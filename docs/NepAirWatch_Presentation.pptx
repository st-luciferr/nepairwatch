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3.png" ContentType="image/png"/>
  <Override PartName="/ppt/media/image4.png" ContentType="image/png"/>
  <Override PartName="/ppt/media/image9.png" ContentType="image/png"/>
  <Override PartName="/ppt/media/image18.png" ContentType="image/png"/>
  <Override PartName="/ppt/media/image20.png" ContentType="image/png"/>
  <Override PartName="/ppt/media/image12.png" ContentType="image/png"/>
  <Override PartName="/ppt/media/image3.png" ContentType="image/png"/>
  <Override PartName="/ppt/media/image8.png" ContentType="image/png"/>
  <Override PartName="/ppt/media/image17.png" ContentType="image/png"/>
  <Override PartName="/ppt/media/image11.png" ContentType="image/png"/>
  <Override PartName="/ppt/media/image2.png" ContentType="image/png"/>
  <Override PartName="/ppt/media/image25.png" ContentType="image/png"/>
  <Override PartName="/ppt/media/image24.png" ContentType="image/png"/>
  <Override PartName="/ppt/media/image23.png" ContentType="image/png"/>
  <Override PartName="/ppt/media/image22.png" ContentType="image/png"/>
  <Override PartName="/ppt/media/image21.png" ContentType="image/png"/>
  <Override PartName="/ppt/media/image19.png" ContentType="image/png"/>
  <Override PartName="/ppt/media/image5.png" ContentType="image/png"/>
  <Override PartName="/ppt/media/image14.png" ContentType="image/png"/>
  <Override PartName="/ppt/media/image6.png" ContentType="image/png"/>
  <Override PartName="/ppt/media/image15.png" ContentType="image/png"/>
  <Override PartName="/ppt/media/image10.png" ContentType="image/png"/>
  <Override PartName="/ppt/media/image1.png" ContentType="image/png"/>
  <Override PartName="/ppt/media/image7.png" ContentType="image/png"/>
  <Override PartName="/ppt/media/image16.png" ContentType="image/png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_rels/notesSlide9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1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300" spc="-1" strike="noStrike">
                <a:solidFill>
                  <a:srgbClr val="1e2a36"/>
                </a:solidFill>
                <a:latin typeface="Calibri"/>
              </a:defRPr>
            </a:pPr>
            <a:r>
              <a:rPr b="0" sz="1300" spc="-1" strike="noStrike">
                <a:solidFill>
                  <a:srgbClr val="1e2a36"/>
                </a:solidFill>
                <a:latin typeface="Calibri"/>
              </a:rPr>
              <a:t>Days above Nepal 24-h PM2.5 standard (past year)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Days &gt; Nepal NAAQS</c:v>
                </c:pt>
              </c:strCache>
            </c:strRef>
          </c:tx>
          <c:spPr>
            <a:solidFill>
              <a:srgbClr val="c0392b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b="0" sz="1000" spc="-1" strike="noStrike">
                    <a:solidFill>
                      <a:srgbClr val="4a5a6a"/>
                    </a:solidFill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15"/>
                <c:pt idx="0">
                  <c:v>Biratnagar</c:v>
                </c:pt>
                <c:pt idx="1">
                  <c:v>Janakpur</c:v>
                </c:pt>
                <c:pt idx="2">
                  <c:v>Birgunj</c:v>
                </c:pt>
                <c:pt idx="3">
                  <c:v>Butwal</c:v>
                </c:pt>
                <c:pt idx="4">
                  <c:v>Nepalgunj</c:v>
                </c:pt>
                <c:pt idx="5">
                  <c:v>Bharatpur</c:v>
                </c:pt>
                <c:pt idx="6">
                  <c:v>Dharan</c:v>
                </c:pt>
                <c:pt idx="7">
                  <c:v>Mahendranagar</c:v>
                </c:pt>
                <c:pt idx="8">
                  <c:v>Kathmandu</c:v>
                </c:pt>
                <c:pt idx="9">
                  <c:v>Lalitpur</c:v>
                </c:pt>
                <c:pt idx="10">
                  <c:v>Hetauda</c:v>
                </c:pt>
                <c:pt idx="11">
                  <c:v>Bhaktapur</c:v>
                </c:pt>
                <c:pt idx="12">
                  <c:v>Dhangadhi</c:v>
                </c:pt>
                <c:pt idx="13">
                  <c:v>Surkhet</c:v>
                </c:pt>
                <c:pt idx="14">
                  <c:v>Pokhara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15"/>
                <c:pt idx="0">
                  <c:v>270</c:v>
                </c:pt>
                <c:pt idx="1">
                  <c:v>277</c:v>
                </c:pt>
                <c:pt idx="2">
                  <c:v>256</c:v>
                </c:pt>
                <c:pt idx="3">
                  <c:v>227</c:v>
                </c:pt>
                <c:pt idx="4">
                  <c:v>203</c:v>
                </c:pt>
                <c:pt idx="5">
                  <c:v>203</c:v>
                </c:pt>
                <c:pt idx="6">
                  <c:v>202</c:v>
                </c:pt>
                <c:pt idx="7">
                  <c:v>191</c:v>
                </c:pt>
                <c:pt idx="8">
                  <c:v>174</c:v>
                </c:pt>
                <c:pt idx="9">
                  <c:v>174</c:v>
                </c:pt>
                <c:pt idx="10">
                  <c:v>174</c:v>
                </c:pt>
                <c:pt idx="11">
                  <c:v>164</c:v>
                </c:pt>
                <c:pt idx="12">
                  <c:v>152</c:v>
                </c:pt>
                <c:pt idx="13">
                  <c:v>100</c:v>
                </c:pt>
                <c:pt idx="14">
                  <c:v>40</c:v>
                </c:pt>
              </c:numCache>
            </c:numRef>
          </c:val>
        </c:ser>
        <c:gapWidth val="45"/>
        <c:overlap val="0"/>
        <c:axId val="45697840"/>
        <c:axId val="55251342"/>
      </c:barChart>
      <c:catAx>
        <c:axId val="45697840"/>
        <c:scaling>
          <c:orientation val="maxMin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4a5a6a"/>
                </a:solidFill>
                <a:latin typeface="Calibri"/>
              </a:defRPr>
            </a:pPr>
          </a:p>
        </c:txPr>
        <c:crossAx val="55251342"/>
        <c:crosses val="autoZero"/>
        <c:auto val="1"/>
        <c:lblAlgn val="ctr"/>
        <c:lblOffset val="100"/>
        <c:noMultiLvlLbl val="0"/>
      </c:catAx>
      <c:valAx>
        <c:axId val="55251342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200" spc="-1" strike="noStrike">
                <a:solidFill>
                  <a:srgbClr val="000000"/>
                </a:solidFill>
                <a:latin typeface="Arial"/>
              </a:defRPr>
            </a:pPr>
          </a:p>
        </c:txPr>
        <c:crossAx val="45697840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300" spc="-1" strike="noStrike">
                <a:solidFill>
                  <a:srgbClr val="1e2a36"/>
                </a:solidFill>
                <a:latin typeface="Calibri"/>
              </a:defRPr>
            </a:pPr>
            <a:r>
              <a:rPr b="0" sz="1300" spc="-1" strike="noStrike">
                <a:solidFill>
                  <a:srgbClr val="1e2a36"/>
                </a:solidFill>
                <a:latin typeface="Calibri"/>
              </a:rPr>
              <a:t>Kathmandu hold-out period: actual vs forecast (µg/m³)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Actual PM2.5 (t+6 h)</c:v>
                </c:pt>
              </c:strCache>
            </c:strRef>
          </c:tx>
          <c:spPr>
            <a:solidFill>
              <a:srgbClr val="1e2a36"/>
            </a:solidFill>
            <a:ln w="19080">
              <a:solidFill>
                <a:srgbClr val="1e2a36"/>
              </a:solidFill>
              <a:round/>
            </a:ln>
          </c:spPr>
          <c:marker>
            <c:symbol val="none"/>
          </c:marker>
          <c:dLbls>
            <c:txPr>
              <a:bodyPr wrap="square"/>
              <a:lstStyle/>
              <a:p>
                <a:pPr>
                  <a:defRPr b="0" sz="12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36"/>
                <c:pt idx="0">
                  <c:v>09-26</c:v>
                </c:pt>
                <c:pt idx="1">
                  <c:v>09-26</c:v>
                </c:pt>
                <c:pt idx="2">
                  <c:v>09-26</c:v>
                </c:pt>
                <c:pt idx="3">
                  <c:v>09-26</c:v>
                </c:pt>
                <c:pt idx="4">
                  <c:v>09-26</c:v>
                </c:pt>
                <c:pt idx="5">
                  <c:v>09-27</c:v>
                </c:pt>
                <c:pt idx="6">
                  <c:v>09-27</c:v>
                </c:pt>
                <c:pt idx="7">
                  <c:v>09-27</c:v>
                </c:pt>
                <c:pt idx="8">
                  <c:v>09-27</c:v>
                </c:pt>
                <c:pt idx="9">
                  <c:v>09-27</c:v>
                </c:pt>
                <c:pt idx="10">
                  <c:v>09-27</c:v>
                </c:pt>
                <c:pt idx="11">
                  <c:v>09-27</c:v>
                </c:pt>
                <c:pt idx="12">
                  <c:v>09-27</c:v>
                </c:pt>
                <c:pt idx="13">
                  <c:v>09-27</c:v>
                </c:pt>
                <c:pt idx="14">
                  <c:v>09-27</c:v>
                </c:pt>
                <c:pt idx="15">
                  <c:v>09-27</c:v>
                </c:pt>
                <c:pt idx="16">
                  <c:v>09-27</c:v>
                </c:pt>
                <c:pt idx="17">
                  <c:v>09-27</c:v>
                </c:pt>
                <c:pt idx="18">
                  <c:v>09-27</c:v>
                </c:pt>
                <c:pt idx="19">
                  <c:v>09-27</c:v>
                </c:pt>
                <c:pt idx="20">
                  <c:v>09-27</c:v>
                </c:pt>
                <c:pt idx="21">
                  <c:v>09-27</c:v>
                </c:pt>
                <c:pt idx="22">
                  <c:v>09-27</c:v>
                </c:pt>
                <c:pt idx="23">
                  <c:v>09-27</c:v>
                </c:pt>
                <c:pt idx="24">
                  <c:v>09-27</c:v>
                </c:pt>
                <c:pt idx="25">
                  <c:v>09-27</c:v>
                </c:pt>
                <c:pt idx="26">
                  <c:v>09-27</c:v>
                </c:pt>
                <c:pt idx="27">
                  <c:v>09-27</c:v>
                </c:pt>
                <c:pt idx="28">
                  <c:v>09-27</c:v>
                </c:pt>
                <c:pt idx="29">
                  <c:v>09-28</c:v>
                </c:pt>
                <c:pt idx="30">
                  <c:v>09-28</c:v>
                </c:pt>
                <c:pt idx="31">
                  <c:v>09-28</c:v>
                </c:pt>
                <c:pt idx="32">
                  <c:v>09-28</c:v>
                </c:pt>
                <c:pt idx="33">
                  <c:v>09-28</c:v>
                </c:pt>
                <c:pt idx="34">
                  <c:v>09-28</c:v>
                </c:pt>
                <c:pt idx="35">
                  <c:v>09-28</c:v>
                </c:pt>
                <c:pt idx="36">
                  <c:v>09-28</c:v>
                </c:pt>
                <c:pt idx="37">
                  <c:v>09-28</c:v>
                </c:pt>
                <c:pt idx="38">
                  <c:v>09-28</c:v>
                </c:pt>
                <c:pt idx="39">
                  <c:v>09-28</c:v>
                </c:pt>
                <c:pt idx="40">
                  <c:v>09-28</c:v>
                </c:pt>
                <c:pt idx="41">
                  <c:v>09-28</c:v>
                </c:pt>
                <c:pt idx="42">
                  <c:v>09-28</c:v>
                </c:pt>
                <c:pt idx="43">
                  <c:v>09-28</c:v>
                </c:pt>
                <c:pt idx="44">
                  <c:v>09-28</c:v>
                </c:pt>
                <c:pt idx="45">
                  <c:v>09-28</c:v>
                </c:pt>
                <c:pt idx="46">
                  <c:v>09-28</c:v>
                </c:pt>
                <c:pt idx="47">
                  <c:v>09-28</c:v>
                </c:pt>
                <c:pt idx="48">
                  <c:v>09-28</c:v>
                </c:pt>
                <c:pt idx="49">
                  <c:v>09-28</c:v>
                </c:pt>
                <c:pt idx="50">
                  <c:v>09-28</c:v>
                </c:pt>
                <c:pt idx="51">
                  <c:v>09-28</c:v>
                </c:pt>
                <c:pt idx="52">
                  <c:v>09-28</c:v>
                </c:pt>
                <c:pt idx="53">
                  <c:v>09-29</c:v>
                </c:pt>
                <c:pt idx="54">
                  <c:v>09-29</c:v>
                </c:pt>
                <c:pt idx="55">
                  <c:v>09-29</c:v>
                </c:pt>
                <c:pt idx="56">
                  <c:v>09-29</c:v>
                </c:pt>
                <c:pt idx="57">
                  <c:v>09-29</c:v>
                </c:pt>
                <c:pt idx="58">
                  <c:v>09-29</c:v>
                </c:pt>
                <c:pt idx="59">
                  <c:v>09-29</c:v>
                </c:pt>
                <c:pt idx="60">
                  <c:v>09-29</c:v>
                </c:pt>
                <c:pt idx="61">
                  <c:v>09-29</c:v>
                </c:pt>
                <c:pt idx="62">
                  <c:v>09-29</c:v>
                </c:pt>
                <c:pt idx="63">
                  <c:v>09-29</c:v>
                </c:pt>
                <c:pt idx="64">
                  <c:v>09-29</c:v>
                </c:pt>
                <c:pt idx="65">
                  <c:v>09-29</c:v>
                </c:pt>
                <c:pt idx="66">
                  <c:v>09-29</c:v>
                </c:pt>
                <c:pt idx="67">
                  <c:v>09-29</c:v>
                </c:pt>
                <c:pt idx="68">
                  <c:v>09-29</c:v>
                </c:pt>
                <c:pt idx="69">
                  <c:v>09-29</c:v>
                </c:pt>
                <c:pt idx="70">
                  <c:v>09-29</c:v>
                </c:pt>
                <c:pt idx="71">
                  <c:v>09-29</c:v>
                </c:pt>
                <c:pt idx="72">
                  <c:v>09-29</c:v>
                </c:pt>
                <c:pt idx="73">
                  <c:v>09-29</c:v>
                </c:pt>
                <c:pt idx="74">
                  <c:v>09-29</c:v>
                </c:pt>
                <c:pt idx="75">
                  <c:v>09-29</c:v>
                </c:pt>
                <c:pt idx="76">
                  <c:v>09-29</c:v>
                </c:pt>
                <c:pt idx="77">
                  <c:v>09-30</c:v>
                </c:pt>
                <c:pt idx="78">
                  <c:v>09-30</c:v>
                </c:pt>
                <c:pt idx="79">
                  <c:v>09-30</c:v>
                </c:pt>
                <c:pt idx="80">
                  <c:v>09-30</c:v>
                </c:pt>
                <c:pt idx="81">
                  <c:v>09-30</c:v>
                </c:pt>
                <c:pt idx="82">
                  <c:v>09-30</c:v>
                </c:pt>
                <c:pt idx="83">
                  <c:v>09-30</c:v>
                </c:pt>
                <c:pt idx="84">
                  <c:v>09-30</c:v>
                </c:pt>
                <c:pt idx="85">
                  <c:v>09-30</c:v>
                </c:pt>
                <c:pt idx="86">
                  <c:v>09-30</c:v>
                </c:pt>
                <c:pt idx="87">
                  <c:v>09-30</c:v>
                </c:pt>
                <c:pt idx="88">
                  <c:v>09-30</c:v>
                </c:pt>
                <c:pt idx="89">
                  <c:v>09-30</c:v>
                </c:pt>
                <c:pt idx="90">
                  <c:v>09-30</c:v>
                </c:pt>
                <c:pt idx="91">
                  <c:v>09-30</c:v>
                </c:pt>
                <c:pt idx="92">
                  <c:v>09-30</c:v>
                </c:pt>
                <c:pt idx="93">
                  <c:v>09-30</c:v>
                </c:pt>
                <c:pt idx="94">
                  <c:v>09-30</c:v>
                </c:pt>
                <c:pt idx="95">
                  <c:v>09-30</c:v>
                </c:pt>
                <c:pt idx="96">
                  <c:v>09-30</c:v>
                </c:pt>
                <c:pt idx="97">
                  <c:v>09-30</c:v>
                </c:pt>
                <c:pt idx="98">
                  <c:v>09-30</c:v>
                </c:pt>
                <c:pt idx="99">
                  <c:v>09-30</c:v>
                </c:pt>
                <c:pt idx="100">
                  <c:v>09-30</c:v>
                </c:pt>
                <c:pt idx="101">
                  <c:v>10-01</c:v>
                </c:pt>
                <c:pt idx="102">
                  <c:v>10-01</c:v>
                </c:pt>
                <c:pt idx="103">
                  <c:v>10-01</c:v>
                </c:pt>
                <c:pt idx="104">
                  <c:v>10-01</c:v>
                </c:pt>
                <c:pt idx="105">
                  <c:v>10-01</c:v>
                </c:pt>
                <c:pt idx="106">
                  <c:v>10-01</c:v>
                </c:pt>
                <c:pt idx="107">
                  <c:v>10-01</c:v>
                </c:pt>
                <c:pt idx="108">
                  <c:v>10-01</c:v>
                </c:pt>
                <c:pt idx="109">
                  <c:v>10-01</c:v>
                </c:pt>
                <c:pt idx="110">
                  <c:v>10-01</c:v>
                </c:pt>
                <c:pt idx="111">
                  <c:v>10-01</c:v>
                </c:pt>
                <c:pt idx="112">
                  <c:v>10-01</c:v>
                </c:pt>
                <c:pt idx="113">
                  <c:v>10-01</c:v>
                </c:pt>
                <c:pt idx="114">
                  <c:v>10-01</c:v>
                </c:pt>
                <c:pt idx="115">
                  <c:v>10-01</c:v>
                </c:pt>
                <c:pt idx="116">
                  <c:v>10-01</c:v>
                </c:pt>
                <c:pt idx="117">
                  <c:v>10-01</c:v>
                </c:pt>
                <c:pt idx="118">
                  <c:v>10-01</c:v>
                </c:pt>
                <c:pt idx="119">
                  <c:v>10-01</c:v>
                </c:pt>
                <c:pt idx="120">
                  <c:v>10-01</c:v>
                </c:pt>
                <c:pt idx="121">
                  <c:v>10-01</c:v>
                </c:pt>
                <c:pt idx="122">
                  <c:v>10-01</c:v>
                </c:pt>
                <c:pt idx="123">
                  <c:v>10-01</c:v>
                </c:pt>
                <c:pt idx="124">
                  <c:v>10-01</c:v>
                </c:pt>
                <c:pt idx="125">
                  <c:v>10-02</c:v>
                </c:pt>
                <c:pt idx="126">
                  <c:v>10-02</c:v>
                </c:pt>
                <c:pt idx="127">
                  <c:v>10-02</c:v>
                </c:pt>
                <c:pt idx="128">
                  <c:v>10-02</c:v>
                </c:pt>
                <c:pt idx="129">
                  <c:v>10-02</c:v>
                </c:pt>
                <c:pt idx="130">
                  <c:v>10-02</c:v>
                </c:pt>
                <c:pt idx="131">
                  <c:v>10-02</c:v>
                </c:pt>
                <c:pt idx="132">
                  <c:v>10-02</c:v>
                </c:pt>
                <c:pt idx="133">
                  <c:v>10-02</c:v>
                </c:pt>
                <c:pt idx="134">
                  <c:v>10-02</c:v>
                </c:pt>
                <c:pt idx="135">
                  <c:v>10-02</c:v>
                </c:pt>
                <c:pt idx="136">
                  <c:v>10-02</c:v>
                </c:pt>
                <c:pt idx="137">
                  <c:v>10-02</c:v>
                </c:pt>
                <c:pt idx="138">
                  <c:v>10-02</c:v>
                </c:pt>
                <c:pt idx="139">
                  <c:v>10-02</c:v>
                </c:pt>
                <c:pt idx="140">
                  <c:v>10-02</c:v>
                </c:pt>
                <c:pt idx="141">
                  <c:v>10-02</c:v>
                </c:pt>
                <c:pt idx="142">
                  <c:v>10-02</c:v>
                </c:pt>
                <c:pt idx="143">
                  <c:v>10-02</c:v>
                </c:pt>
                <c:pt idx="144">
                  <c:v>10-02</c:v>
                </c:pt>
                <c:pt idx="145">
                  <c:v>10-02</c:v>
                </c:pt>
                <c:pt idx="146">
                  <c:v>10-02</c:v>
                </c:pt>
                <c:pt idx="147">
                  <c:v>10-02</c:v>
                </c:pt>
                <c:pt idx="148">
                  <c:v>10-02</c:v>
                </c:pt>
                <c:pt idx="149">
                  <c:v>10-03</c:v>
                </c:pt>
                <c:pt idx="150">
                  <c:v>10-03</c:v>
                </c:pt>
                <c:pt idx="151">
                  <c:v>10-03</c:v>
                </c:pt>
                <c:pt idx="152">
                  <c:v>10-03</c:v>
                </c:pt>
                <c:pt idx="153">
                  <c:v>10-03</c:v>
                </c:pt>
                <c:pt idx="154">
                  <c:v>10-03</c:v>
                </c:pt>
                <c:pt idx="155">
                  <c:v>10-03</c:v>
                </c:pt>
                <c:pt idx="156">
                  <c:v>10-03</c:v>
                </c:pt>
                <c:pt idx="157">
                  <c:v>10-03</c:v>
                </c:pt>
                <c:pt idx="158">
                  <c:v>10-03</c:v>
                </c:pt>
                <c:pt idx="159">
                  <c:v>10-03</c:v>
                </c:pt>
                <c:pt idx="160">
                  <c:v>10-03</c:v>
                </c:pt>
                <c:pt idx="161">
                  <c:v>10-03</c:v>
                </c:pt>
                <c:pt idx="162">
                  <c:v>10-03</c:v>
                </c:pt>
                <c:pt idx="163">
                  <c:v>10-03</c:v>
                </c:pt>
                <c:pt idx="164">
                  <c:v>10-03</c:v>
                </c:pt>
                <c:pt idx="165">
                  <c:v>10-03</c:v>
                </c:pt>
                <c:pt idx="166">
                  <c:v>10-03</c:v>
                </c:pt>
                <c:pt idx="167">
                  <c:v>10-03</c:v>
                </c:pt>
                <c:pt idx="168">
                  <c:v>10-03</c:v>
                </c:pt>
                <c:pt idx="169">
                  <c:v>10-03</c:v>
                </c:pt>
                <c:pt idx="170">
                  <c:v>10-03</c:v>
                </c:pt>
                <c:pt idx="171">
                  <c:v>10-03</c:v>
                </c:pt>
                <c:pt idx="172">
                  <c:v>10-03</c:v>
                </c:pt>
                <c:pt idx="173">
                  <c:v>10-04</c:v>
                </c:pt>
                <c:pt idx="174">
                  <c:v>10-04</c:v>
                </c:pt>
                <c:pt idx="175">
                  <c:v>10-04</c:v>
                </c:pt>
                <c:pt idx="176">
                  <c:v>10-04</c:v>
                </c:pt>
                <c:pt idx="177">
                  <c:v>10-04</c:v>
                </c:pt>
                <c:pt idx="178">
                  <c:v>10-04</c:v>
                </c:pt>
                <c:pt idx="179">
                  <c:v>10-04</c:v>
                </c:pt>
                <c:pt idx="180">
                  <c:v>10-04</c:v>
                </c:pt>
                <c:pt idx="181">
                  <c:v>10-04</c:v>
                </c:pt>
                <c:pt idx="182">
                  <c:v>10-04</c:v>
                </c:pt>
                <c:pt idx="183">
                  <c:v>10-04</c:v>
                </c:pt>
                <c:pt idx="184">
                  <c:v>10-04</c:v>
                </c:pt>
                <c:pt idx="185">
                  <c:v>10-04</c:v>
                </c:pt>
                <c:pt idx="186">
                  <c:v>10-04</c:v>
                </c:pt>
                <c:pt idx="187">
                  <c:v>10-04</c:v>
                </c:pt>
                <c:pt idx="188">
                  <c:v>10-04</c:v>
                </c:pt>
                <c:pt idx="189">
                  <c:v>10-04</c:v>
                </c:pt>
                <c:pt idx="190">
                  <c:v>10-04</c:v>
                </c:pt>
                <c:pt idx="191">
                  <c:v>10-04</c:v>
                </c:pt>
                <c:pt idx="192">
                  <c:v>10-04</c:v>
                </c:pt>
                <c:pt idx="193">
                  <c:v>10-04</c:v>
                </c:pt>
                <c:pt idx="194">
                  <c:v>10-04</c:v>
                </c:pt>
                <c:pt idx="195">
                  <c:v>10-04</c:v>
                </c:pt>
                <c:pt idx="196">
                  <c:v>10-04</c:v>
                </c:pt>
                <c:pt idx="197">
                  <c:v>10-05</c:v>
                </c:pt>
                <c:pt idx="198">
                  <c:v>10-05</c:v>
                </c:pt>
                <c:pt idx="199">
                  <c:v>10-05</c:v>
                </c:pt>
                <c:pt idx="200">
                  <c:v>10-05</c:v>
                </c:pt>
                <c:pt idx="201">
                  <c:v>10-05</c:v>
                </c:pt>
                <c:pt idx="202">
                  <c:v>10-05</c:v>
                </c:pt>
                <c:pt idx="203">
                  <c:v>10-05</c:v>
                </c:pt>
                <c:pt idx="204">
                  <c:v>10-05</c:v>
                </c:pt>
                <c:pt idx="205">
                  <c:v>10-05</c:v>
                </c:pt>
                <c:pt idx="206">
                  <c:v>10-05</c:v>
                </c:pt>
                <c:pt idx="207">
                  <c:v>10-05</c:v>
                </c:pt>
                <c:pt idx="208">
                  <c:v>10-05</c:v>
                </c:pt>
                <c:pt idx="209">
                  <c:v>10-05</c:v>
                </c:pt>
                <c:pt idx="210">
                  <c:v>10-05</c:v>
                </c:pt>
                <c:pt idx="211">
                  <c:v>10-05</c:v>
                </c:pt>
                <c:pt idx="212">
                  <c:v>10-05</c:v>
                </c:pt>
                <c:pt idx="213">
                  <c:v>10-05</c:v>
                </c:pt>
                <c:pt idx="214">
                  <c:v>10-05</c:v>
                </c:pt>
                <c:pt idx="215">
                  <c:v>10-05</c:v>
                </c:pt>
                <c:pt idx="216">
                  <c:v>10-05</c:v>
                </c:pt>
                <c:pt idx="217">
                  <c:v>10-05</c:v>
                </c:pt>
                <c:pt idx="218">
                  <c:v>10-05</c:v>
                </c:pt>
                <c:pt idx="219">
                  <c:v>10-05</c:v>
                </c:pt>
                <c:pt idx="220">
                  <c:v>10-05</c:v>
                </c:pt>
                <c:pt idx="221">
                  <c:v>10-06</c:v>
                </c:pt>
                <c:pt idx="222">
                  <c:v>10-06</c:v>
                </c:pt>
                <c:pt idx="223">
                  <c:v>10-06</c:v>
                </c:pt>
                <c:pt idx="224">
                  <c:v>10-06</c:v>
                </c:pt>
                <c:pt idx="225">
                  <c:v>10-06</c:v>
                </c:pt>
                <c:pt idx="226">
                  <c:v>10-06</c:v>
                </c:pt>
                <c:pt idx="227">
                  <c:v>10-06</c:v>
                </c:pt>
                <c:pt idx="228">
                  <c:v>10-06</c:v>
                </c:pt>
                <c:pt idx="229">
                  <c:v>10-06</c:v>
                </c:pt>
                <c:pt idx="230">
                  <c:v>10-06</c:v>
                </c:pt>
                <c:pt idx="231">
                  <c:v>10-06</c:v>
                </c:pt>
                <c:pt idx="232">
                  <c:v>10-06</c:v>
                </c:pt>
                <c:pt idx="233">
                  <c:v>10-06</c:v>
                </c:pt>
                <c:pt idx="234">
                  <c:v>10-06</c:v>
                </c:pt>
                <c:pt idx="235">
                  <c:v>10-06</c:v>
                </c:pt>
                <c:pt idx="236">
                  <c:v>10-06</c:v>
                </c:pt>
                <c:pt idx="237">
                  <c:v>10-06</c:v>
                </c:pt>
                <c:pt idx="238">
                  <c:v>10-06</c:v>
                </c:pt>
                <c:pt idx="239">
                  <c:v>10-06</c:v>
                </c:pt>
                <c:pt idx="240">
                  <c:v>10-06</c:v>
                </c:pt>
                <c:pt idx="241">
                  <c:v>10-06</c:v>
                </c:pt>
                <c:pt idx="242">
                  <c:v>10-06</c:v>
                </c:pt>
                <c:pt idx="243">
                  <c:v>10-06</c:v>
                </c:pt>
                <c:pt idx="244">
                  <c:v>10-06</c:v>
                </c:pt>
                <c:pt idx="245">
                  <c:v>10-07</c:v>
                </c:pt>
                <c:pt idx="246">
                  <c:v>10-07</c:v>
                </c:pt>
                <c:pt idx="247">
                  <c:v>10-07</c:v>
                </c:pt>
                <c:pt idx="248">
                  <c:v>10-07</c:v>
                </c:pt>
                <c:pt idx="249">
                  <c:v>10-07</c:v>
                </c:pt>
                <c:pt idx="250">
                  <c:v>10-07</c:v>
                </c:pt>
                <c:pt idx="251">
                  <c:v>10-07</c:v>
                </c:pt>
                <c:pt idx="252">
                  <c:v>10-07</c:v>
                </c:pt>
                <c:pt idx="253">
                  <c:v>10-07</c:v>
                </c:pt>
                <c:pt idx="254">
                  <c:v>10-07</c:v>
                </c:pt>
                <c:pt idx="255">
                  <c:v>10-07</c:v>
                </c:pt>
                <c:pt idx="256">
                  <c:v>10-07</c:v>
                </c:pt>
                <c:pt idx="257">
                  <c:v>10-07</c:v>
                </c:pt>
                <c:pt idx="258">
                  <c:v>10-07</c:v>
                </c:pt>
                <c:pt idx="259">
                  <c:v>10-07</c:v>
                </c:pt>
                <c:pt idx="260">
                  <c:v>10-07</c:v>
                </c:pt>
                <c:pt idx="261">
                  <c:v>10-07</c:v>
                </c:pt>
                <c:pt idx="262">
                  <c:v>10-07</c:v>
                </c:pt>
                <c:pt idx="263">
                  <c:v>10-07</c:v>
                </c:pt>
                <c:pt idx="264">
                  <c:v>10-07</c:v>
                </c:pt>
                <c:pt idx="265">
                  <c:v>10-07</c:v>
                </c:pt>
                <c:pt idx="266">
                  <c:v>10-07</c:v>
                </c:pt>
                <c:pt idx="267">
                  <c:v>10-07</c:v>
                </c:pt>
                <c:pt idx="268">
                  <c:v>10-07</c:v>
                </c:pt>
                <c:pt idx="269">
                  <c:v>10-08</c:v>
                </c:pt>
                <c:pt idx="270">
                  <c:v>10-08</c:v>
                </c:pt>
                <c:pt idx="271">
                  <c:v>10-08</c:v>
                </c:pt>
                <c:pt idx="272">
                  <c:v>10-08</c:v>
                </c:pt>
                <c:pt idx="273">
                  <c:v>10-08</c:v>
                </c:pt>
                <c:pt idx="274">
                  <c:v>10-08</c:v>
                </c:pt>
                <c:pt idx="275">
                  <c:v>10-08</c:v>
                </c:pt>
                <c:pt idx="276">
                  <c:v>10-08</c:v>
                </c:pt>
                <c:pt idx="277">
                  <c:v>10-08</c:v>
                </c:pt>
                <c:pt idx="278">
                  <c:v>10-08</c:v>
                </c:pt>
                <c:pt idx="279">
                  <c:v>10-08</c:v>
                </c:pt>
                <c:pt idx="280">
                  <c:v>10-08</c:v>
                </c:pt>
                <c:pt idx="281">
                  <c:v>10-08</c:v>
                </c:pt>
                <c:pt idx="282">
                  <c:v>10-08</c:v>
                </c:pt>
                <c:pt idx="283">
                  <c:v>10-08</c:v>
                </c:pt>
                <c:pt idx="284">
                  <c:v>10-08</c:v>
                </c:pt>
                <c:pt idx="285">
                  <c:v>10-08</c:v>
                </c:pt>
                <c:pt idx="286">
                  <c:v>10-08</c:v>
                </c:pt>
                <c:pt idx="287">
                  <c:v>10-08</c:v>
                </c:pt>
                <c:pt idx="288">
                  <c:v>10-08</c:v>
                </c:pt>
                <c:pt idx="289">
                  <c:v>10-08</c:v>
                </c:pt>
                <c:pt idx="290">
                  <c:v>10-08</c:v>
                </c:pt>
                <c:pt idx="291">
                  <c:v>10-08</c:v>
                </c:pt>
                <c:pt idx="292">
                  <c:v>10-08</c:v>
                </c:pt>
                <c:pt idx="293">
                  <c:v>10-09</c:v>
                </c:pt>
                <c:pt idx="294">
                  <c:v>10-09</c:v>
                </c:pt>
                <c:pt idx="295">
                  <c:v>10-09</c:v>
                </c:pt>
                <c:pt idx="296">
                  <c:v>10-09</c:v>
                </c:pt>
                <c:pt idx="297">
                  <c:v>10-09</c:v>
                </c:pt>
                <c:pt idx="298">
                  <c:v>10-09</c:v>
                </c:pt>
                <c:pt idx="299">
                  <c:v>10-09</c:v>
                </c:pt>
                <c:pt idx="300">
                  <c:v>10-09</c:v>
                </c:pt>
                <c:pt idx="301">
                  <c:v>10-09</c:v>
                </c:pt>
                <c:pt idx="302">
                  <c:v>10-09</c:v>
                </c:pt>
                <c:pt idx="303">
                  <c:v>10-09</c:v>
                </c:pt>
                <c:pt idx="304">
                  <c:v>10-09</c:v>
                </c:pt>
                <c:pt idx="305">
                  <c:v>10-09</c:v>
                </c:pt>
                <c:pt idx="306">
                  <c:v>10-09</c:v>
                </c:pt>
                <c:pt idx="307">
                  <c:v>10-09</c:v>
                </c:pt>
                <c:pt idx="308">
                  <c:v>10-09</c:v>
                </c:pt>
                <c:pt idx="309">
                  <c:v>10-09</c:v>
                </c:pt>
                <c:pt idx="310">
                  <c:v>10-09</c:v>
                </c:pt>
                <c:pt idx="311">
                  <c:v>10-09</c:v>
                </c:pt>
                <c:pt idx="312">
                  <c:v>10-09</c:v>
                </c:pt>
                <c:pt idx="313">
                  <c:v>10-09</c:v>
                </c:pt>
                <c:pt idx="314">
                  <c:v>10-09</c:v>
                </c:pt>
                <c:pt idx="315">
                  <c:v>10-09</c:v>
                </c:pt>
                <c:pt idx="316">
                  <c:v>10-09</c:v>
                </c:pt>
                <c:pt idx="317">
                  <c:v>10-10</c:v>
                </c:pt>
                <c:pt idx="318">
                  <c:v>10-10</c:v>
                </c:pt>
                <c:pt idx="319">
                  <c:v>10-10</c:v>
                </c:pt>
                <c:pt idx="320">
                  <c:v>10-10</c:v>
                </c:pt>
                <c:pt idx="321">
                  <c:v>10-10</c:v>
                </c:pt>
                <c:pt idx="322">
                  <c:v>10-10</c:v>
                </c:pt>
                <c:pt idx="323">
                  <c:v>10-10</c:v>
                </c:pt>
                <c:pt idx="324">
                  <c:v>10-10</c:v>
                </c:pt>
                <c:pt idx="325">
                  <c:v>10-10</c:v>
                </c:pt>
                <c:pt idx="326">
                  <c:v>10-10</c:v>
                </c:pt>
                <c:pt idx="327">
                  <c:v>10-10</c:v>
                </c:pt>
                <c:pt idx="328">
                  <c:v>10-10</c:v>
                </c:pt>
                <c:pt idx="329">
                  <c:v>10-10</c:v>
                </c:pt>
                <c:pt idx="330">
                  <c:v>10-10</c:v>
                </c:pt>
                <c:pt idx="331">
                  <c:v>10-10</c:v>
                </c:pt>
                <c:pt idx="332">
                  <c:v>10-10</c:v>
                </c:pt>
                <c:pt idx="333">
                  <c:v>10-10</c:v>
                </c:pt>
                <c:pt idx="334">
                  <c:v>10-10</c:v>
                </c:pt>
                <c:pt idx="335">
                  <c:v>10-10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36"/>
                <c:pt idx="0">
                  <c:v>4.9</c:v>
                </c:pt>
                <c:pt idx="1">
                  <c:v>5</c:v>
                </c:pt>
                <c:pt idx="2">
                  <c:v>5.1</c:v>
                </c:pt>
                <c:pt idx="3">
                  <c:v>5.6</c:v>
                </c:pt>
                <c:pt idx="4">
                  <c:v>7.8</c:v>
                </c:pt>
                <c:pt idx="5">
                  <c:v>9.3</c:v>
                </c:pt>
                <c:pt idx="6">
                  <c:v>10.2</c:v>
                </c:pt>
                <c:pt idx="7">
                  <c:v>11</c:v>
                </c:pt>
                <c:pt idx="8">
                  <c:v>10.1</c:v>
                </c:pt>
                <c:pt idx="9">
                  <c:v>9.7</c:v>
                </c:pt>
                <c:pt idx="10">
                  <c:v>10</c:v>
                </c:pt>
                <c:pt idx="11">
                  <c:v>9.4</c:v>
                </c:pt>
                <c:pt idx="12">
                  <c:v>9.4</c:v>
                </c:pt>
                <c:pt idx="13">
                  <c:v>10.1</c:v>
                </c:pt>
                <c:pt idx="14">
                  <c:v>10.8</c:v>
                </c:pt>
                <c:pt idx="15">
                  <c:v>11.5</c:v>
                </c:pt>
                <c:pt idx="16">
                  <c:v>8.9</c:v>
                </c:pt>
                <c:pt idx="17">
                  <c:v>15.5</c:v>
                </c:pt>
                <c:pt idx="18">
                  <c:v>21.5</c:v>
                </c:pt>
                <c:pt idx="19">
                  <c:v>25</c:v>
                </c:pt>
                <c:pt idx="20">
                  <c:v>27.9</c:v>
                </c:pt>
                <c:pt idx="21">
                  <c:v>31.1</c:v>
                </c:pt>
                <c:pt idx="22">
                  <c:v>32.1</c:v>
                </c:pt>
                <c:pt idx="23">
                  <c:v>32.9</c:v>
                </c:pt>
                <c:pt idx="24">
                  <c:v>32.9</c:v>
                </c:pt>
                <c:pt idx="25">
                  <c:v>31.7</c:v>
                </c:pt>
                <c:pt idx="26">
                  <c:v>30.7</c:v>
                </c:pt>
                <c:pt idx="27">
                  <c:v>30.3</c:v>
                </c:pt>
                <c:pt idx="28">
                  <c:v>14</c:v>
                </c:pt>
                <c:pt idx="29">
                  <c:v>21.9</c:v>
                </c:pt>
                <c:pt idx="30">
                  <c:v>14.6</c:v>
                </c:pt>
                <c:pt idx="31">
                  <c:v>10</c:v>
                </c:pt>
                <c:pt idx="32">
                  <c:v>10.9</c:v>
                </c:pt>
                <c:pt idx="33">
                  <c:v>11.7</c:v>
                </c:pt>
                <c:pt idx="34">
                  <c:v>13.3</c:v>
                </c:pt>
                <c:pt idx="35">
                  <c:v>13.1</c:v>
                </c:pt>
                <c:pt idx="36">
                  <c:v>13.9</c:v>
                </c:pt>
                <c:pt idx="37">
                  <c:v>15.1</c:v>
                </c:pt>
                <c:pt idx="38">
                  <c:v>18</c:v>
                </c:pt>
                <c:pt idx="39">
                  <c:v>21.1</c:v>
                </c:pt>
                <c:pt idx="40">
                  <c:v>18</c:v>
                </c:pt>
                <c:pt idx="41">
                  <c:v>25.3</c:v>
                </c:pt>
                <c:pt idx="42">
                  <c:v>32.1</c:v>
                </c:pt>
                <c:pt idx="43">
                  <c:v>37</c:v>
                </c:pt>
                <c:pt idx="44">
                  <c:v>42.6</c:v>
                </c:pt>
                <c:pt idx="45">
                  <c:v>42.4</c:v>
                </c:pt>
                <c:pt idx="46">
                  <c:v>41.1</c:v>
                </c:pt>
                <c:pt idx="47">
                  <c:v>39.1</c:v>
                </c:pt>
                <c:pt idx="48">
                  <c:v>37.8</c:v>
                </c:pt>
                <c:pt idx="49">
                  <c:v>36.8</c:v>
                </c:pt>
                <c:pt idx="50">
                  <c:v>36.3</c:v>
                </c:pt>
                <c:pt idx="51">
                  <c:v>35.6</c:v>
                </c:pt>
                <c:pt idx="52">
                  <c:v>26.2</c:v>
                </c:pt>
                <c:pt idx="53">
                  <c:v>33.6</c:v>
                </c:pt>
                <c:pt idx="54">
                  <c:v>25</c:v>
                </c:pt>
                <c:pt idx="55">
                  <c:v>18.9</c:v>
                </c:pt>
                <c:pt idx="56">
                  <c:v>16.5</c:v>
                </c:pt>
                <c:pt idx="57">
                  <c:v>15.3</c:v>
                </c:pt>
                <c:pt idx="58">
                  <c:v>14.2</c:v>
                </c:pt>
                <c:pt idx="59">
                  <c:v>14</c:v>
                </c:pt>
                <c:pt idx="60">
                  <c:v>13.9</c:v>
                </c:pt>
                <c:pt idx="61">
                  <c:v>14.8</c:v>
                </c:pt>
                <c:pt idx="62">
                  <c:v>14.6</c:v>
                </c:pt>
                <c:pt idx="63">
                  <c:v>14.8</c:v>
                </c:pt>
                <c:pt idx="64">
                  <c:v>15.7</c:v>
                </c:pt>
                <c:pt idx="65">
                  <c:v>19.3</c:v>
                </c:pt>
                <c:pt idx="66">
                  <c:v>23.5</c:v>
                </c:pt>
                <c:pt idx="67">
                  <c:v>26.8</c:v>
                </c:pt>
                <c:pt idx="68">
                  <c:v>26.4</c:v>
                </c:pt>
                <c:pt idx="69">
                  <c:v>30.3</c:v>
                </c:pt>
                <c:pt idx="70">
                  <c:v>31.7</c:v>
                </c:pt>
                <c:pt idx="71">
                  <c:v>34.2</c:v>
                </c:pt>
                <c:pt idx="72">
                  <c:v>34.2</c:v>
                </c:pt>
                <c:pt idx="73">
                  <c:v>33.1</c:v>
                </c:pt>
                <c:pt idx="74">
                  <c:v>32.5</c:v>
                </c:pt>
                <c:pt idx="75">
                  <c:v>30.6</c:v>
                </c:pt>
                <c:pt idx="76">
                  <c:v>18.2</c:v>
                </c:pt>
                <c:pt idx="77">
                  <c:v>26.1</c:v>
                </c:pt>
                <c:pt idx="78">
                  <c:v>21.3</c:v>
                </c:pt>
                <c:pt idx="79">
                  <c:v>14.8</c:v>
                </c:pt>
                <c:pt idx="80">
                  <c:v>13.8</c:v>
                </c:pt>
                <c:pt idx="81">
                  <c:v>13.2</c:v>
                </c:pt>
                <c:pt idx="82">
                  <c:v>12.7</c:v>
                </c:pt>
                <c:pt idx="83">
                  <c:v>12.6</c:v>
                </c:pt>
                <c:pt idx="84">
                  <c:v>13</c:v>
                </c:pt>
                <c:pt idx="85">
                  <c:v>14.3</c:v>
                </c:pt>
                <c:pt idx="86">
                  <c:v>14.7</c:v>
                </c:pt>
                <c:pt idx="87">
                  <c:v>16</c:v>
                </c:pt>
                <c:pt idx="88">
                  <c:v>24.5</c:v>
                </c:pt>
                <c:pt idx="89">
                  <c:v>29.7</c:v>
                </c:pt>
                <c:pt idx="90">
                  <c:v>34.2</c:v>
                </c:pt>
                <c:pt idx="91">
                  <c:v>35.4</c:v>
                </c:pt>
                <c:pt idx="92">
                  <c:v>33.5</c:v>
                </c:pt>
                <c:pt idx="93">
                  <c:v>35.4</c:v>
                </c:pt>
                <c:pt idx="94">
                  <c:v>34.9</c:v>
                </c:pt>
                <c:pt idx="95">
                  <c:v>31.1</c:v>
                </c:pt>
                <c:pt idx="96">
                  <c:v>30.9</c:v>
                </c:pt>
                <c:pt idx="97">
                  <c:v>32</c:v>
                </c:pt>
                <c:pt idx="98">
                  <c:v>31.1</c:v>
                </c:pt>
                <c:pt idx="99">
                  <c:v>24.6</c:v>
                </c:pt>
                <c:pt idx="100">
                  <c:v>25.4</c:v>
                </c:pt>
                <c:pt idx="101">
                  <c:v>38.9</c:v>
                </c:pt>
                <c:pt idx="102">
                  <c:v>24</c:v>
                </c:pt>
                <c:pt idx="103">
                  <c:v>20.1</c:v>
                </c:pt>
                <c:pt idx="104">
                  <c:v>18.6</c:v>
                </c:pt>
                <c:pt idx="105">
                  <c:v>17.9</c:v>
                </c:pt>
                <c:pt idx="106">
                  <c:v>17.8</c:v>
                </c:pt>
                <c:pt idx="107">
                  <c:v>17.4</c:v>
                </c:pt>
                <c:pt idx="108">
                  <c:v>16.8</c:v>
                </c:pt>
                <c:pt idx="109">
                  <c:v>17.6</c:v>
                </c:pt>
                <c:pt idx="110">
                  <c:v>19.4</c:v>
                </c:pt>
                <c:pt idx="111">
                  <c:v>20</c:v>
                </c:pt>
                <c:pt idx="112">
                  <c:v>26.4</c:v>
                </c:pt>
                <c:pt idx="113">
                  <c:v>32.7</c:v>
                </c:pt>
                <c:pt idx="114">
                  <c:v>39</c:v>
                </c:pt>
                <c:pt idx="115">
                  <c:v>45.5</c:v>
                </c:pt>
                <c:pt idx="116">
                  <c:v>51.3</c:v>
                </c:pt>
                <c:pt idx="117">
                  <c:v>53.2</c:v>
                </c:pt>
                <c:pt idx="118">
                  <c:v>51.2</c:v>
                </c:pt>
                <c:pt idx="119">
                  <c:v>48.7</c:v>
                </c:pt>
                <c:pt idx="120">
                  <c:v>47.5</c:v>
                </c:pt>
                <c:pt idx="121">
                  <c:v>45.5</c:v>
                </c:pt>
                <c:pt idx="122">
                  <c:v>43.2</c:v>
                </c:pt>
                <c:pt idx="123">
                  <c:v>44.9</c:v>
                </c:pt>
                <c:pt idx="124">
                  <c:v>29.4</c:v>
                </c:pt>
                <c:pt idx="125">
                  <c:v>30.5</c:v>
                </c:pt>
                <c:pt idx="126">
                  <c:v>29.8</c:v>
                </c:pt>
                <c:pt idx="127">
                  <c:v>26.1</c:v>
                </c:pt>
                <c:pt idx="128">
                  <c:v>25.6</c:v>
                </c:pt>
                <c:pt idx="129">
                  <c:v>26.8</c:v>
                </c:pt>
                <c:pt idx="130">
                  <c:v>29.3</c:v>
                </c:pt>
                <c:pt idx="131">
                  <c:v>29.8</c:v>
                </c:pt>
                <c:pt idx="132">
                  <c:v>27.2</c:v>
                </c:pt>
                <c:pt idx="133">
                  <c:v>28.7</c:v>
                </c:pt>
                <c:pt idx="134">
                  <c:v>28.5</c:v>
                </c:pt>
                <c:pt idx="135">
                  <c:v>29.2</c:v>
                </c:pt>
                <c:pt idx="136">
                  <c:v>36.1</c:v>
                </c:pt>
                <c:pt idx="137">
                  <c:v>41.7</c:v>
                </c:pt>
                <c:pt idx="138">
                  <c:v>48.7</c:v>
                </c:pt>
                <c:pt idx="139">
                  <c:v>48.4</c:v>
                </c:pt>
                <c:pt idx="140">
                  <c:v>52.5</c:v>
                </c:pt>
                <c:pt idx="141">
                  <c:v>55.1</c:v>
                </c:pt>
                <c:pt idx="142">
                  <c:v>49.7</c:v>
                </c:pt>
                <c:pt idx="143">
                  <c:v>48</c:v>
                </c:pt>
                <c:pt idx="144">
                  <c:v>45.4</c:v>
                </c:pt>
                <c:pt idx="145">
                  <c:v>41.9</c:v>
                </c:pt>
                <c:pt idx="146">
                  <c:v>39.6</c:v>
                </c:pt>
                <c:pt idx="147">
                  <c:v>39.1</c:v>
                </c:pt>
                <c:pt idx="148">
                  <c:v>33.5</c:v>
                </c:pt>
                <c:pt idx="149">
                  <c:v>38.9</c:v>
                </c:pt>
                <c:pt idx="150">
                  <c:v>24.1</c:v>
                </c:pt>
                <c:pt idx="151">
                  <c:v>16.8</c:v>
                </c:pt>
                <c:pt idx="152">
                  <c:v>13.8</c:v>
                </c:pt>
                <c:pt idx="153">
                  <c:v>13.2</c:v>
                </c:pt>
                <c:pt idx="154">
                  <c:v>13.5</c:v>
                </c:pt>
                <c:pt idx="155">
                  <c:v>13.3</c:v>
                </c:pt>
                <c:pt idx="156">
                  <c:v>12.7</c:v>
                </c:pt>
                <c:pt idx="157">
                  <c:v>12.8</c:v>
                </c:pt>
                <c:pt idx="158">
                  <c:v>12.6</c:v>
                </c:pt>
                <c:pt idx="159">
                  <c:v>14</c:v>
                </c:pt>
                <c:pt idx="160">
                  <c:v>24.9</c:v>
                </c:pt>
                <c:pt idx="161">
                  <c:v>31</c:v>
                </c:pt>
                <c:pt idx="162">
                  <c:v>35.6</c:v>
                </c:pt>
                <c:pt idx="163">
                  <c:v>39.3</c:v>
                </c:pt>
                <c:pt idx="164">
                  <c:v>43.5</c:v>
                </c:pt>
                <c:pt idx="165">
                  <c:v>47.3</c:v>
                </c:pt>
                <c:pt idx="166">
                  <c:v>48.4</c:v>
                </c:pt>
                <c:pt idx="167">
                  <c:v>45.1</c:v>
                </c:pt>
                <c:pt idx="168">
                  <c:v>40.6</c:v>
                </c:pt>
                <c:pt idx="169">
                  <c:v>36.6</c:v>
                </c:pt>
                <c:pt idx="170">
                  <c:v>32.4</c:v>
                </c:pt>
                <c:pt idx="171">
                  <c:v>29</c:v>
                </c:pt>
                <c:pt idx="172">
                  <c:v>13.5</c:v>
                </c:pt>
                <c:pt idx="173">
                  <c:v>16.3</c:v>
                </c:pt>
                <c:pt idx="174">
                  <c:v>16.8</c:v>
                </c:pt>
                <c:pt idx="175">
                  <c:v>13</c:v>
                </c:pt>
                <c:pt idx="176">
                  <c:v>10.5</c:v>
                </c:pt>
                <c:pt idx="177">
                  <c:v>11.6</c:v>
                </c:pt>
                <c:pt idx="178">
                  <c:v>14.2</c:v>
                </c:pt>
                <c:pt idx="179">
                  <c:v>17.6</c:v>
                </c:pt>
                <c:pt idx="180">
                  <c:v>20</c:v>
                </c:pt>
                <c:pt idx="181">
                  <c:v>19.9</c:v>
                </c:pt>
                <c:pt idx="182">
                  <c:v>19.8</c:v>
                </c:pt>
                <c:pt idx="183">
                  <c:v>21.2</c:v>
                </c:pt>
                <c:pt idx="184">
                  <c:v>24.5</c:v>
                </c:pt>
                <c:pt idx="185">
                  <c:v>32.8</c:v>
                </c:pt>
                <c:pt idx="186">
                  <c:v>39.6</c:v>
                </c:pt>
                <c:pt idx="187">
                  <c:v>47.1</c:v>
                </c:pt>
                <c:pt idx="188">
                  <c:v>50.3</c:v>
                </c:pt>
                <c:pt idx="189">
                  <c:v>51.7</c:v>
                </c:pt>
                <c:pt idx="190">
                  <c:v>49.2</c:v>
                </c:pt>
                <c:pt idx="191">
                  <c:v>48.5</c:v>
                </c:pt>
                <c:pt idx="192">
                  <c:v>47.8</c:v>
                </c:pt>
                <c:pt idx="193">
                  <c:v>45.9</c:v>
                </c:pt>
                <c:pt idx="194">
                  <c:v>42.4</c:v>
                </c:pt>
                <c:pt idx="195">
                  <c:v>40.4</c:v>
                </c:pt>
                <c:pt idx="196">
                  <c:v>35.9</c:v>
                </c:pt>
                <c:pt idx="197">
                  <c:v>40.3</c:v>
                </c:pt>
                <c:pt idx="198">
                  <c:v>38.9</c:v>
                </c:pt>
                <c:pt idx="199">
                  <c:v>35</c:v>
                </c:pt>
                <c:pt idx="200">
                  <c:v>30.3</c:v>
                </c:pt>
                <c:pt idx="201">
                  <c:v>31.4</c:v>
                </c:pt>
                <c:pt idx="202">
                  <c:v>32.4</c:v>
                </c:pt>
                <c:pt idx="203">
                  <c:v>32.4</c:v>
                </c:pt>
                <c:pt idx="204">
                  <c:v>29.9</c:v>
                </c:pt>
                <c:pt idx="205">
                  <c:v>29.6</c:v>
                </c:pt>
                <c:pt idx="206">
                  <c:v>29.2</c:v>
                </c:pt>
                <c:pt idx="207">
                  <c:v>30.2</c:v>
                </c:pt>
                <c:pt idx="208">
                  <c:v>44.9</c:v>
                </c:pt>
                <c:pt idx="209">
                  <c:v>48.2</c:v>
                </c:pt>
                <c:pt idx="210">
                  <c:v>53.2</c:v>
                </c:pt>
                <c:pt idx="211">
                  <c:v>60.8</c:v>
                </c:pt>
                <c:pt idx="212">
                  <c:v>65.7</c:v>
                </c:pt>
                <c:pt idx="213">
                  <c:v>68.7</c:v>
                </c:pt>
                <c:pt idx="214">
                  <c:v>68.9</c:v>
                </c:pt>
                <c:pt idx="215">
                  <c:v>65.2</c:v>
                </c:pt>
                <c:pt idx="216">
                  <c:v>62.6</c:v>
                </c:pt>
                <c:pt idx="217">
                  <c:v>58.9</c:v>
                </c:pt>
                <c:pt idx="218">
                  <c:v>56.3</c:v>
                </c:pt>
                <c:pt idx="219">
                  <c:v>54.4</c:v>
                </c:pt>
                <c:pt idx="220">
                  <c:v>45.2</c:v>
                </c:pt>
                <c:pt idx="221">
                  <c:v>51.3</c:v>
                </c:pt>
                <c:pt idx="222">
                  <c:v>50.9</c:v>
                </c:pt>
                <c:pt idx="223">
                  <c:v>37.3</c:v>
                </c:pt>
                <c:pt idx="224">
                  <c:v>28.2</c:v>
                </c:pt>
                <c:pt idx="225">
                  <c:v>26.3</c:v>
                </c:pt>
                <c:pt idx="226">
                  <c:v>25.4</c:v>
                </c:pt>
                <c:pt idx="227">
                  <c:v>24.1</c:v>
                </c:pt>
                <c:pt idx="228">
                  <c:v>22.2</c:v>
                </c:pt>
                <c:pt idx="229">
                  <c:v>20.6</c:v>
                </c:pt>
                <c:pt idx="230">
                  <c:v>20.6</c:v>
                </c:pt>
                <c:pt idx="231">
                  <c:v>20.6</c:v>
                </c:pt>
                <c:pt idx="232">
                  <c:v>40.7</c:v>
                </c:pt>
                <c:pt idx="233">
                  <c:v>47.6</c:v>
                </c:pt>
                <c:pt idx="234">
                  <c:v>54.5</c:v>
                </c:pt>
                <c:pt idx="235">
                  <c:v>53.8</c:v>
                </c:pt>
                <c:pt idx="236">
                  <c:v>57.3</c:v>
                </c:pt>
                <c:pt idx="237">
                  <c:v>61.2</c:v>
                </c:pt>
                <c:pt idx="238">
                  <c:v>63.1</c:v>
                </c:pt>
                <c:pt idx="239">
                  <c:v>64.3</c:v>
                </c:pt>
                <c:pt idx="240">
                  <c:v>64.7</c:v>
                </c:pt>
                <c:pt idx="241">
                  <c:v>64.3</c:v>
                </c:pt>
                <c:pt idx="242">
                  <c:v>62.6</c:v>
                </c:pt>
                <c:pt idx="243">
                  <c:v>56</c:v>
                </c:pt>
                <c:pt idx="244">
                  <c:v>38.3</c:v>
                </c:pt>
                <c:pt idx="245">
                  <c:v>42.5</c:v>
                </c:pt>
                <c:pt idx="246">
                  <c:v>37.7</c:v>
                </c:pt>
                <c:pt idx="247">
                  <c:v>30.2</c:v>
                </c:pt>
                <c:pt idx="248">
                  <c:v>22.5</c:v>
                </c:pt>
                <c:pt idx="249">
                  <c:v>20.8</c:v>
                </c:pt>
                <c:pt idx="250">
                  <c:v>19.8</c:v>
                </c:pt>
                <c:pt idx="251">
                  <c:v>19.3</c:v>
                </c:pt>
                <c:pt idx="252">
                  <c:v>19.4</c:v>
                </c:pt>
                <c:pt idx="253">
                  <c:v>19.7</c:v>
                </c:pt>
                <c:pt idx="254">
                  <c:v>20.4</c:v>
                </c:pt>
                <c:pt idx="255">
                  <c:v>23.1</c:v>
                </c:pt>
                <c:pt idx="256">
                  <c:v>24.2</c:v>
                </c:pt>
                <c:pt idx="257">
                  <c:v>31.8</c:v>
                </c:pt>
                <c:pt idx="258">
                  <c:v>41.2</c:v>
                </c:pt>
                <c:pt idx="259">
                  <c:v>48.8</c:v>
                </c:pt>
                <c:pt idx="260">
                  <c:v>55.2</c:v>
                </c:pt>
                <c:pt idx="261">
                  <c:v>59.3</c:v>
                </c:pt>
                <c:pt idx="262">
                  <c:v>57.4</c:v>
                </c:pt>
                <c:pt idx="263">
                  <c:v>54.5</c:v>
                </c:pt>
                <c:pt idx="264">
                  <c:v>50.2</c:v>
                </c:pt>
                <c:pt idx="265">
                  <c:v>46</c:v>
                </c:pt>
                <c:pt idx="266">
                  <c:v>43.5</c:v>
                </c:pt>
                <c:pt idx="267">
                  <c:v>43.7</c:v>
                </c:pt>
                <c:pt idx="268">
                  <c:v>41.2</c:v>
                </c:pt>
                <c:pt idx="269">
                  <c:v>43.7</c:v>
                </c:pt>
                <c:pt idx="270">
                  <c:v>39.7</c:v>
                </c:pt>
                <c:pt idx="271">
                  <c:v>23.3</c:v>
                </c:pt>
                <c:pt idx="272">
                  <c:v>15.9</c:v>
                </c:pt>
                <c:pt idx="273">
                  <c:v>14.6</c:v>
                </c:pt>
                <c:pt idx="274">
                  <c:v>14.3</c:v>
                </c:pt>
                <c:pt idx="275">
                  <c:v>14.5</c:v>
                </c:pt>
                <c:pt idx="276">
                  <c:v>15.4</c:v>
                </c:pt>
                <c:pt idx="277">
                  <c:v>15.7</c:v>
                </c:pt>
                <c:pt idx="278">
                  <c:v>17</c:v>
                </c:pt>
                <c:pt idx="279">
                  <c:v>19.1</c:v>
                </c:pt>
                <c:pt idx="280">
                  <c:v>37.3</c:v>
                </c:pt>
                <c:pt idx="281">
                  <c:v>43.3</c:v>
                </c:pt>
                <c:pt idx="282">
                  <c:v>49.5</c:v>
                </c:pt>
                <c:pt idx="283">
                  <c:v>55.3</c:v>
                </c:pt>
                <c:pt idx="284">
                  <c:v>61</c:v>
                </c:pt>
                <c:pt idx="285">
                  <c:v>65</c:v>
                </c:pt>
                <c:pt idx="286">
                  <c:v>66.4</c:v>
                </c:pt>
                <c:pt idx="287">
                  <c:v>66.8</c:v>
                </c:pt>
                <c:pt idx="288">
                  <c:v>66.4</c:v>
                </c:pt>
                <c:pt idx="289">
                  <c:v>65</c:v>
                </c:pt>
                <c:pt idx="290">
                  <c:v>62.9</c:v>
                </c:pt>
                <c:pt idx="291">
                  <c:v>59.6</c:v>
                </c:pt>
                <c:pt idx="292">
                  <c:v>56.1</c:v>
                </c:pt>
                <c:pt idx="293">
                  <c:v>53</c:v>
                </c:pt>
                <c:pt idx="294">
                  <c:v>52.2</c:v>
                </c:pt>
                <c:pt idx="295">
                  <c:v>29</c:v>
                </c:pt>
                <c:pt idx="296">
                  <c:v>15.5</c:v>
                </c:pt>
                <c:pt idx="297">
                  <c:v>12.5</c:v>
                </c:pt>
                <c:pt idx="298">
                  <c:v>13.2</c:v>
                </c:pt>
                <c:pt idx="299">
                  <c:v>14.6</c:v>
                </c:pt>
                <c:pt idx="300">
                  <c:v>15.7</c:v>
                </c:pt>
                <c:pt idx="301">
                  <c:v>16.1</c:v>
                </c:pt>
                <c:pt idx="302">
                  <c:v>18.6</c:v>
                </c:pt>
                <c:pt idx="303">
                  <c:v>21.4</c:v>
                </c:pt>
                <c:pt idx="304">
                  <c:v>24.7</c:v>
                </c:pt>
                <c:pt idx="305">
                  <c:v>30</c:v>
                </c:pt>
                <c:pt idx="306">
                  <c:v>36.3</c:v>
                </c:pt>
                <c:pt idx="307">
                  <c:v>38.9</c:v>
                </c:pt>
                <c:pt idx="308">
                  <c:v>41.9</c:v>
                </c:pt>
                <c:pt idx="309">
                  <c:v>44.7</c:v>
                </c:pt>
                <c:pt idx="310">
                  <c:v>46.1</c:v>
                </c:pt>
                <c:pt idx="311">
                  <c:v>44.5</c:v>
                </c:pt>
                <c:pt idx="312">
                  <c:v>37.5</c:v>
                </c:pt>
                <c:pt idx="313">
                  <c:v>28.8</c:v>
                </c:pt>
                <c:pt idx="314">
                  <c:v>24.8</c:v>
                </c:pt>
                <c:pt idx="315">
                  <c:v>23.9</c:v>
                </c:pt>
                <c:pt idx="316">
                  <c:v>16.9</c:v>
                </c:pt>
                <c:pt idx="317">
                  <c:v>22.8</c:v>
                </c:pt>
                <c:pt idx="318">
                  <c:v>21.4</c:v>
                </c:pt>
                <c:pt idx="319">
                  <c:v>19.2</c:v>
                </c:pt>
                <c:pt idx="320">
                  <c:v>20.4</c:v>
                </c:pt>
                <c:pt idx="321">
                  <c:v>22.1</c:v>
                </c:pt>
                <c:pt idx="322">
                  <c:v>22.9</c:v>
                </c:pt>
                <c:pt idx="323">
                  <c:v>23.3</c:v>
                </c:pt>
                <c:pt idx="324">
                  <c:v>23.5</c:v>
                </c:pt>
                <c:pt idx="325">
                  <c:v>23.9</c:v>
                </c:pt>
                <c:pt idx="326">
                  <c:v>24</c:v>
                </c:pt>
                <c:pt idx="327">
                  <c:v>24.2</c:v>
                </c:pt>
                <c:pt idx="328">
                  <c:v>27.8</c:v>
                </c:pt>
                <c:pt idx="329">
                  <c:v>34.6</c:v>
                </c:pt>
                <c:pt idx="330">
                  <c:v>40.9</c:v>
                </c:pt>
                <c:pt idx="331">
                  <c:v>45.1</c:v>
                </c:pt>
                <c:pt idx="332">
                  <c:v>49.7</c:v>
                </c:pt>
                <c:pt idx="333">
                  <c:v>53.1</c:v>
                </c:pt>
                <c:pt idx="334">
                  <c:v>53.1</c:v>
                </c:pt>
                <c:pt idx="335">
                  <c:v>53.8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GBT forecast</c:v>
                </c:pt>
              </c:strCache>
            </c:strRef>
          </c:tx>
          <c:spPr>
            <a:solidFill>
              <a:srgbClr val="e07a2f"/>
            </a:solidFill>
            <a:ln w="19080">
              <a:solidFill>
                <a:srgbClr val="e07a2f"/>
              </a:solidFill>
              <a:round/>
            </a:ln>
          </c:spPr>
          <c:marker>
            <c:symbol val="none"/>
          </c:marker>
          <c:dLbls>
            <c:txPr>
              <a:bodyPr wrap="square"/>
              <a:lstStyle/>
              <a:p>
                <a:pPr>
                  <a:defRPr b="0" sz="12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36"/>
                <c:pt idx="0">
                  <c:v>09-26</c:v>
                </c:pt>
                <c:pt idx="1">
                  <c:v>09-26</c:v>
                </c:pt>
                <c:pt idx="2">
                  <c:v>09-26</c:v>
                </c:pt>
                <c:pt idx="3">
                  <c:v>09-26</c:v>
                </c:pt>
                <c:pt idx="4">
                  <c:v>09-26</c:v>
                </c:pt>
                <c:pt idx="5">
                  <c:v>09-27</c:v>
                </c:pt>
                <c:pt idx="6">
                  <c:v>09-27</c:v>
                </c:pt>
                <c:pt idx="7">
                  <c:v>09-27</c:v>
                </c:pt>
                <c:pt idx="8">
                  <c:v>09-27</c:v>
                </c:pt>
                <c:pt idx="9">
                  <c:v>09-27</c:v>
                </c:pt>
                <c:pt idx="10">
                  <c:v>09-27</c:v>
                </c:pt>
                <c:pt idx="11">
                  <c:v>09-27</c:v>
                </c:pt>
                <c:pt idx="12">
                  <c:v>09-27</c:v>
                </c:pt>
                <c:pt idx="13">
                  <c:v>09-27</c:v>
                </c:pt>
                <c:pt idx="14">
                  <c:v>09-27</c:v>
                </c:pt>
                <c:pt idx="15">
                  <c:v>09-27</c:v>
                </c:pt>
                <c:pt idx="16">
                  <c:v>09-27</c:v>
                </c:pt>
                <c:pt idx="17">
                  <c:v>09-27</c:v>
                </c:pt>
                <c:pt idx="18">
                  <c:v>09-27</c:v>
                </c:pt>
                <c:pt idx="19">
                  <c:v>09-27</c:v>
                </c:pt>
                <c:pt idx="20">
                  <c:v>09-27</c:v>
                </c:pt>
                <c:pt idx="21">
                  <c:v>09-27</c:v>
                </c:pt>
                <c:pt idx="22">
                  <c:v>09-27</c:v>
                </c:pt>
                <c:pt idx="23">
                  <c:v>09-27</c:v>
                </c:pt>
                <c:pt idx="24">
                  <c:v>09-27</c:v>
                </c:pt>
                <c:pt idx="25">
                  <c:v>09-27</c:v>
                </c:pt>
                <c:pt idx="26">
                  <c:v>09-27</c:v>
                </c:pt>
                <c:pt idx="27">
                  <c:v>09-27</c:v>
                </c:pt>
                <c:pt idx="28">
                  <c:v>09-27</c:v>
                </c:pt>
                <c:pt idx="29">
                  <c:v>09-28</c:v>
                </c:pt>
                <c:pt idx="30">
                  <c:v>09-28</c:v>
                </c:pt>
                <c:pt idx="31">
                  <c:v>09-28</c:v>
                </c:pt>
                <c:pt idx="32">
                  <c:v>09-28</c:v>
                </c:pt>
                <c:pt idx="33">
                  <c:v>09-28</c:v>
                </c:pt>
                <c:pt idx="34">
                  <c:v>09-28</c:v>
                </c:pt>
                <c:pt idx="35">
                  <c:v>09-28</c:v>
                </c:pt>
                <c:pt idx="36">
                  <c:v>09-28</c:v>
                </c:pt>
                <c:pt idx="37">
                  <c:v>09-28</c:v>
                </c:pt>
                <c:pt idx="38">
                  <c:v>09-28</c:v>
                </c:pt>
                <c:pt idx="39">
                  <c:v>09-28</c:v>
                </c:pt>
                <c:pt idx="40">
                  <c:v>09-28</c:v>
                </c:pt>
                <c:pt idx="41">
                  <c:v>09-28</c:v>
                </c:pt>
                <c:pt idx="42">
                  <c:v>09-28</c:v>
                </c:pt>
                <c:pt idx="43">
                  <c:v>09-28</c:v>
                </c:pt>
                <c:pt idx="44">
                  <c:v>09-28</c:v>
                </c:pt>
                <c:pt idx="45">
                  <c:v>09-28</c:v>
                </c:pt>
                <c:pt idx="46">
                  <c:v>09-28</c:v>
                </c:pt>
                <c:pt idx="47">
                  <c:v>09-28</c:v>
                </c:pt>
                <c:pt idx="48">
                  <c:v>09-28</c:v>
                </c:pt>
                <c:pt idx="49">
                  <c:v>09-28</c:v>
                </c:pt>
                <c:pt idx="50">
                  <c:v>09-28</c:v>
                </c:pt>
                <c:pt idx="51">
                  <c:v>09-28</c:v>
                </c:pt>
                <c:pt idx="52">
                  <c:v>09-28</c:v>
                </c:pt>
                <c:pt idx="53">
                  <c:v>09-29</c:v>
                </c:pt>
                <c:pt idx="54">
                  <c:v>09-29</c:v>
                </c:pt>
                <c:pt idx="55">
                  <c:v>09-29</c:v>
                </c:pt>
                <c:pt idx="56">
                  <c:v>09-29</c:v>
                </c:pt>
                <c:pt idx="57">
                  <c:v>09-29</c:v>
                </c:pt>
                <c:pt idx="58">
                  <c:v>09-29</c:v>
                </c:pt>
                <c:pt idx="59">
                  <c:v>09-29</c:v>
                </c:pt>
                <c:pt idx="60">
                  <c:v>09-29</c:v>
                </c:pt>
                <c:pt idx="61">
                  <c:v>09-29</c:v>
                </c:pt>
                <c:pt idx="62">
                  <c:v>09-29</c:v>
                </c:pt>
                <c:pt idx="63">
                  <c:v>09-29</c:v>
                </c:pt>
                <c:pt idx="64">
                  <c:v>09-29</c:v>
                </c:pt>
                <c:pt idx="65">
                  <c:v>09-29</c:v>
                </c:pt>
                <c:pt idx="66">
                  <c:v>09-29</c:v>
                </c:pt>
                <c:pt idx="67">
                  <c:v>09-29</c:v>
                </c:pt>
                <c:pt idx="68">
                  <c:v>09-29</c:v>
                </c:pt>
                <c:pt idx="69">
                  <c:v>09-29</c:v>
                </c:pt>
                <c:pt idx="70">
                  <c:v>09-29</c:v>
                </c:pt>
                <c:pt idx="71">
                  <c:v>09-29</c:v>
                </c:pt>
                <c:pt idx="72">
                  <c:v>09-29</c:v>
                </c:pt>
                <c:pt idx="73">
                  <c:v>09-29</c:v>
                </c:pt>
                <c:pt idx="74">
                  <c:v>09-29</c:v>
                </c:pt>
                <c:pt idx="75">
                  <c:v>09-29</c:v>
                </c:pt>
                <c:pt idx="76">
                  <c:v>09-29</c:v>
                </c:pt>
                <c:pt idx="77">
                  <c:v>09-30</c:v>
                </c:pt>
                <c:pt idx="78">
                  <c:v>09-30</c:v>
                </c:pt>
                <c:pt idx="79">
                  <c:v>09-30</c:v>
                </c:pt>
                <c:pt idx="80">
                  <c:v>09-30</c:v>
                </c:pt>
                <c:pt idx="81">
                  <c:v>09-30</c:v>
                </c:pt>
                <c:pt idx="82">
                  <c:v>09-30</c:v>
                </c:pt>
                <c:pt idx="83">
                  <c:v>09-30</c:v>
                </c:pt>
                <c:pt idx="84">
                  <c:v>09-30</c:v>
                </c:pt>
                <c:pt idx="85">
                  <c:v>09-30</c:v>
                </c:pt>
                <c:pt idx="86">
                  <c:v>09-30</c:v>
                </c:pt>
                <c:pt idx="87">
                  <c:v>09-30</c:v>
                </c:pt>
                <c:pt idx="88">
                  <c:v>09-30</c:v>
                </c:pt>
                <c:pt idx="89">
                  <c:v>09-30</c:v>
                </c:pt>
                <c:pt idx="90">
                  <c:v>09-30</c:v>
                </c:pt>
                <c:pt idx="91">
                  <c:v>09-30</c:v>
                </c:pt>
                <c:pt idx="92">
                  <c:v>09-30</c:v>
                </c:pt>
                <c:pt idx="93">
                  <c:v>09-30</c:v>
                </c:pt>
                <c:pt idx="94">
                  <c:v>09-30</c:v>
                </c:pt>
                <c:pt idx="95">
                  <c:v>09-30</c:v>
                </c:pt>
                <c:pt idx="96">
                  <c:v>09-30</c:v>
                </c:pt>
                <c:pt idx="97">
                  <c:v>09-30</c:v>
                </c:pt>
                <c:pt idx="98">
                  <c:v>09-30</c:v>
                </c:pt>
                <c:pt idx="99">
                  <c:v>09-30</c:v>
                </c:pt>
                <c:pt idx="100">
                  <c:v>09-30</c:v>
                </c:pt>
                <c:pt idx="101">
                  <c:v>10-01</c:v>
                </c:pt>
                <c:pt idx="102">
                  <c:v>10-01</c:v>
                </c:pt>
                <c:pt idx="103">
                  <c:v>10-01</c:v>
                </c:pt>
                <c:pt idx="104">
                  <c:v>10-01</c:v>
                </c:pt>
                <c:pt idx="105">
                  <c:v>10-01</c:v>
                </c:pt>
                <c:pt idx="106">
                  <c:v>10-01</c:v>
                </c:pt>
                <c:pt idx="107">
                  <c:v>10-01</c:v>
                </c:pt>
                <c:pt idx="108">
                  <c:v>10-01</c:v>
                </c:pt>
                <c:pt idx="109">
                  <c:v>10-01</c:v>
                </c:pt>
                <c:pt idx="110">
                  <c:v>10-01</c:v>
                </c:pt>
                <c:pt idx="111">
                  <c:v>10-01</c:v>
                </c:pt>
                <c:pt idx="112">
                  <c:v>10-01</c:v>
                </c:pt>
                <c:pt idx="113">
                  <c:v>10-01</c:v>
                </c:pt>
                <c:pt idx="114">
                  <c:v>10-01</c:v>
                </c:pt>
                <c:pt idx="115">
                  <c:v>10-01</c:v>
                </c:pt>
                <c:pt idx="116">
                  <c:v>10-01</c:v>
                </c:pt>
                <c:pt idx="117">
                  <c:v>10-01</c:v>
                </c:pt>
                <c:pt idx="118">
                  <c:v>10-01</c:v>
                </c:pt>
                <c:pt idx="119">
                  <c:v>10-01</c:v>
                </c:pt>
                <c:pt idx="120">
                  <c:v>10-01</c:v>
                </c:pt>
                <c:pt idx="121">
                  <c:v>10-01</c:v>
                </c:pt>
                <c:pt idx="122">
                  <c:v>10-01</c:v>
                </c:pt>
                <c:pt idx="123">
                  <c:v>10-01</c:v>
                </c:pt>
                <c:pt idx="124">
                  <c:v>10-01</c:v>
                </c:pt>
                <c:pt idx="125">
                  <c:v>10-02</c:v>
                </c:pt>
                <c:pt idx="126">
                  <c:v>10-02</c:v>
                </c:pt>
                <c:pt idx="127">
                  <c:v>10-02</c:v>
                </c:pt>
                <c:pt idx="128">
                  <c:v>10-02</c:v>
                </c:pt>
                <c:pt idx="129">
                  <c:v>10-02</c:v>
                </c:pt>
                <c:pt idx="130">
                  <c:v>10-02</c:v>
                </c:pt>
                <c:pt idx="131">
                  <c:v>10-02</c:v>
                </c:pt>
                <c:pt idx="132">
                  <c:v>10-02</c:v>
                </c:pt>
                <c:pt idx="133">
                  <c:v>10-02</c:v>
                </c:pt>
                <c:pt idx="134">
                  <c:v>10-02</c:v>
                </c:pt>
                <c:pt idx="135">
                  <c:v>10-02</c:v>
                </c:pt>
                <c:pt idx="136">
                  <c:v>10-02</c:v>
                </c:pt>
                <c:pt idx="137">
                  <c:v>10-02</c:v>
                </c:pt>
                <c:pt idx="138">
                  <c:v>10-02</c:v>
                </c:pt>
                <c:pt idx="139">
                  <c:v>10-02</c:v>
                </c:pt>
                <c:pt idx="140">
                  <c:v>10-02</c:v>
                </c:pt>
                <c:pt idx="141">
                  <c:v>10-02</c:v>
                </c:pt>
                <c:pt idx="142">
                  <c:v>10-02</c:v>
                </c:pt>
                <c:pt idx="143">
                  <c:v>10-02</c:v>
                </c:pt>
                <c:pt idx="144">
                  <c:v>10-02</c:v>
                </c:pt>
                <c:pt idx="145">
                  <c:v>10-02</c:v>
                </c:pt>
                <c:pt idx="146">
                  <c:v>10-02</c:v>
                </c:pt>
                <c:pt idx="147">
                  <c:v>10-02</c:v>
                </c:pt>
                <c:pt idx="148">
                  <c:v>10-02</c:v>
                </c:pt>
                <c:pt idx="149">
                  <c:v>10-03</c:v>
                </c:pt>
                <c:pt idx="150">
                  <c:v>10-03</c:v>
                </c:pt>
                <c:pt idx="151">
                  <c:v>10-03</c:v>
                </c:pt>
                <c:pt idx="152">
                  <c:v>10-03</c:v>
                </c:pt>
                <c:pt idx="153">
                  <c:v>10-03</c:v>
                </c:pt>
                <c:pt idx="154">
                  <c:v>10-03</c:v>
                </c:pt>
                <c:pt idx="155">
                  <c:v>10-03</c:v>
                </c:pt>
                <c:pt idx="156">
                  <c:v>10-03</c:v>
                </c:pt>
                <c:pt idx="157">
                  <c:v>10-03</c:v>
                </c:pt>
                <c:pt idx="158">
                  <c:v>10-03</c:v>
                </c:pt>
                <c:pt idx="159">
                  <c:v>10-03</c:v>
                </c:pt>
                <c:pt idx="160">
                  <c:v>10-03</c:v>
                </c:pt>
                <c:pt idx="161">
                  <c:v>10-03</c:v>
                </c:pt>
                <c:pt idx="162">
                  <c:v>10-03</c:v>
                </c:pt>
                <c:pt idx="163">
                  <c:v>10-03</c:v>
                </c:pt>
                <c:pt idx="164">
                  <c:v>10-03</c:v>
                </c:pt>
                <c:pt idx="165">
                  <c:v>10-03</c:v>
                </c:pt>
                <c:pt idx="166">
                  <c:v>10-03</c:v>
                </c:pt>
                <c:pt idx="167">
                  <c:v>10-03</c:v>
                </c:pt>
                <c:pt idx="168">
                  <c:v>10-03</c:v>
                </c:pt>
                <c:pt idx="169">
                  <c:v>10-03</c:v>
                </c:pt>
                <c:pt idx="170">
                  <c:v>10-03</c:v>
                </c:pt>
                <c:pt idx="171">
                  <c:v>10-03</c:v>
                </c:pt>
                <c:pt idx="172">
                  <c:v>10-03</c:v>
                </c:pt>
                <c:pt idx="173">
                  <c:v>10-04</c:v>
                </c:pt>
                <c:pt idx="174">
                  <c:v>10-04</c:v>
                </c:pt>
                <c:pt idx="175">
                  <c:v>10-04</c:v>
                </c:pt>
                <c:pt idx="176">
                  <c:v>10-04</c:v>
                </c:pt>
                <c:pt idx="177">
                  <c:v>10-04</c:v>
                </c:pt>
                <c:pt idx="178">
                  <c:v>10-04</c:v>
                </c:pt>
                <c:pt idx="179">
                  <c:v>10-04</c:v>
                </c:pt>
                <c:pt idx="180">
                  <c:v>10-04</c:v>
                </c:pt>
                <c:pt idx="181">
                  <c:v>10-04</c:v>
                </c:pt>
                <c:pt idx="182">
                  <c:v>10-04</c:v>
                </c:pt>
                <c:pt idx="183">
                  <c:v>10-04</c:v>
                </c:pt>
                <c:pt idx="184">
                  <c:v>10-04</c:v>
                </c:pt>
                <c:pt idx="185">
                  <c:v>10-04</c:v>
                </c:pt>
                <c:pt idx="186">
                  <c:v>10-04</c:v>
                </c:pt>
                <c:pt idx="187">
                  <c:v>10-04</c:v>
                </c:pt>
                <c:pt idx="188">
                  <c:v>10-04</c:v>
                </c:pt>
                <c:pt idx="189">
                  <c:v>10-04</c:v>
                </c:pt>
                <c:pt idx="190">
                  <c:v>10-04</c:v>
                </c:pt>
                <c:pt idx="191">
                  <c:v>10-04</c:v>
                </c:pt>
                <c:pt idx="192">
                  <c:v>10-04</c:v>
                </c:pt>
                <c:pt idx="193">
                  <c:v>10-04</c:v>
                </c:pt>
                <c:pt idx="194">
                  <c:v>10-04</c:v>
                </c:pt>
                <c:pt idx="195">
                  <c:v>10-04</c:v>
                </c:pt>
                <c:pt idx="196">
                  <c:v>10-04</c:v>
                </c:pt>
                <c:pt idx="197">
                  <c:v>10-05</c:v>
                </c:pt>
                <c:pt idx="198">
                  <c:v>10-05</c:v>
                </c:pt>
                <c:pt idx="199">
                  <c:v>10-05</c:v>
                </c:pt>
                <c:pt idx="200">
                  <c:v>10-05</c:v>
                </c:pt>
                <c:pt idx="201">
                  <c:v>10-05</c:v>
                </c:pt>
                <c:pt idx="202">
                  <c:v>10-05</c:v>
                </c:pt>
                <c:pt idx="203">
                  <c:v>10-05</c:v>
                </c:pt>
                <c:pt idx="204">
                  <c:v>10-05</c:v>
                </c:pt>
                <c:pt idx="205">
                  <c:v>10-05</c:v>
                </c:pt>
                <c:pt idx="206">
                  <c:v>10-05</c:v>
                </c:pt>
                <c:pt idx="207">
                  <c:v>10-05</c:v>
                </c:pt>
                <c:pt idx="208">
                  <c:v>10-05</c:v>
                </c:pt>
                <c:pt idx="209">
                  <c:v>10-05</c:v>
                </c:pt>
                <c:pt idx="210">
                  <c:v>10-05</c:v>
                </c:pt>
                <c:pt idx="211">
                  <c:v>10-05</c:v>
                </c:pt>
                <c:pt idx="212">
                  <c:v>10-05</c:v>
                </c:pt>
                <c:pt idx="213">
                  <c:v>10-05</c:v>
                </c:pt>
                <c:pt idx="214">
                  <c:v>10-05</c:v>
                </c:pt>
                <c:pt idx="215">
                  <c:v>10-05</c:v>
                </c:pt>
                <c:pt idx="216">
                  <c:v>10-05</c:v>
                </c:pt>
                <c:pt idx="217">
                  <c:v>10-05</c:v>
                </c:pt>
                <c:pt idx="218">
                  <c:v>10-05</c:v>
                </c:pt>
                <c:pt idx="219">
                  <c:v>10-05</c:v>
                </c:pt>
                <c:pt idx="220">
                  <c:v>10-05</c:v>
                </c:pt>
                <c:pt idx="221">
                  <c:v>10-06</c:v>
                </c:pt>
                <c:pt idx="222">
                  <c:v>10-06</c:v>
                </c:pt>
                <c:pt idx="223">
                  <c:v>10-06</c:v>
                </c:pt>
                <c:pt idx="224">
                  <c:v>10-06</c:v>
                </c:pt>
                <c:pt idx="225">
                  <c:v>10-06</c:v>
                </c:pt>
                <c:pt idx="226">
                  <c:v>10-06</c:v>
                </c:pt>
                <c:pt idx="227">
                  <c:v>10-06</c:v>
                </c:pt>
                <c:pt idx="228">
                  <c:v>10-06</c:v>
                </c:pt>
                <c:pt idx="229">
                  <c:v>10-06</c:v>
                </c:pt>
                <c:pt idx="230">
                  <c:v>10-06</c:v>
                </c:pt>
                <c:pt idx="231">
                  <c:v>10-06</c:v>
                </c:pt>
                <c:pt idx="232">
                  <c:v>10-06</c:v>
                </c:pt>
                <c:pt idx="233">
                  <c:v>10-06</c:v>
                </c:pt>
                <c:pt idx="234">
                  <c:v>10-06</c:v>
                </c:pt>
                <c:pt idx="235">
                  <c:v>10-06</c:v>
                </c:pt>
                <c:pt idx="236">
                  <c:v>10-06</c:v>
                </c:pt>
                <c:pt idx="237">
                  <c:v>10-06</c:v>
                </c:pt>
                <c:pt idx="238">
                  <c:v>10-06</c:v>
                </c:pt>
                <c:pt idx="239">
                  <c:v>10-06</c:v>
                </c:pt>
                <c:pt idx="240">
                  <c:v>10-06</c:v>
                </c:pt>
                <c:pt idx="241">
                  <c:v>10-06</c:v>
                </c:pt>
                <c:pt idx="242">
                  <c:v>10-06</c:v>
                </c:pt>
                <c:pt idx="243">
                  <c:v>10-06</c:v>
                </c:pt>
                <c:pt idx="244">
                  <c:v>10-06</c:v>
                </c:pt>
                <c:pt idx="245">
                  <c:v>10-07</c:v>
                </c:pt>
                <c:pt idx="246">
                  <c:v>10-07</c:v>
                </c:pt>
                <c:pt idx="247">
                  <c:v>10-07</c:v>
                </c:pt>
                <c:pt idx="248">
                  <c:v>10-07</c:v>
                </c:pt>
                <c:pt idx="249">
                  <c:v>10-07</c:v>
                </c:pt>
                <c:pt idx="250">
                  <c:v>10-07</c:v>
                </c:pt>
                <c:pt idx="251">
                  <c:v>10-07</c:v>
                </c:pt>
                <c:pt idx="252">
                  <c:v>10-07</c:v>
                </c:pt>
                <c:pt idx="253">
                  <c:v>10-07</c:v>
                </c:pt>
                <c:pt idx="254">
                  <c:v>10-07</c:v>
                </c:pt>
                <c:pt idx="255">
                  <c:v>10-07</c:v>
                </c:pt>
                <c:pt idx="256">
                  <c:v>10-07</c:v>
                </c:pt>
                <c:pt idx="257">
                  <c:v>10-07</c:v>
                </c:pt>
                <c:pt idx="258">
                  <c:v>10-07</c:v>
                </c:pt>
                <c:pt idx="259">
                  <c:v>10-07</c:v>
                </c:pt>
                <c:pt idx="260">
                  <c:v>10-07</c:v>
                </c:pt>
                <c:pt idx="261">
                  <c:v>10-07</c:v>
                </c:pt>
                <c:pt idx="262">
                  <c:v>10-07</c:v>
                </c:pt>
                <c:pt idx="263">
                  <c:v>10-07</c:v>
                </c:pt>
                <c:pt idx="264">
                  <c:v>10-07</c:v>
                </c:pt>
                <c:pt idx="265">
                  <c:v>10-07</c:v>
                </c:pt>
                <c:pt idx="266">
                  <c:v>10-07</c:v>
                </c:pt>
                <c:pt idx="267">
                  <c:v>10-07</c:v>
                </c:pt>
                <c:pt idx="268">
                  <c:v>10-07</c:v>
                </c:pt>
                <c:pt idx="269">
                  <c:v>10-08</c:v>
                </c:pt>
                <c:pt idx="270">
                  <c:v>10-08</c:v>
                </c:pt>
                <c:pt idx="271">
                  <c:v>10-08</c:v>
                </c:pt>
                <c:pt idx="272">
                  <c:v>10-08</c:v>
                </c:pt>
                <c:pt idx="273">
                  <c:v>10-08</c:v>
                </c:pt>
                <c:pt idx="274">
                  <c:v>10-08</c:v>
                </c:pt>
                <c:pt idx="275">
                  <c:v>10-08</c:v>
                </c:pt>
                <c:pt idx="276">
                  <c:v>10-08</c:v>
                </c:pt>
                <c:pt idx="277">
                  <c:v>10-08</c:v>
                </c:pt>
                <c:pt idx="278">
                  <c:v>10-08</c:v>
                </c:pt>
                <c:pt idx="279">
                  <c:v>10-08</c:v>
                </c:pt>
                <c:pt idx="280">
                  <c:v>10-08</c:v>
                </c:pt>
                <c:pt idx="281">
                  <c:v>10-08</c:v>
                </c:pt>
                <c:pt idx="282">
                  <c:v>10-08</c:v>
                </c:pt>
                <c:pt idx="283">
                  <c:v>10-08</c:v>
                </c:pt>
                <c:pt idx="284">
                  <c:v>10-08</c:v>
                </c:pt>
                <c:pt idx="285">
                  <c:v>10-08</c:v>
                </c:pt>
                <c:pt idx="286">
                  <c:v>10-08</c:v>
                </c:pt>
                <c:pt idx="287">
                  <c:v>10-08</c:v>
                </c:pt>
                <c:pt idx="288">
                  <c:v>10-08</c:v>
                </c:pt>
                <c:pt idx="289">
                  <c:v>10-08</c:v>
                </c:pt>
                <c:pt idx="290">
                  <c:v>10-08</c:v>
                </c:pt>
                <c:pt idx="291">
                  <c:v>10-08</c:v>
                </c:pt>
                <c:pt idx="292">
                  <c:v>10-08</c:v>
                </c:pt>
                <c:pt idx="293">
                  <c:v>10-09</c:v>
                </c:pt>
                <c:pt idx="294">
                  <c:v>10-09</c:v>
                </c:pt>
                <c:pt idx="295">
                  <c:v>10-09</c:v>
                </c:pt>
                <c:pt idx="296">
                  <c:v>10-09</c:v>
                </c:pt>
                <c:pt idx="297">
                  <c:v>10-09</c:v>
                </c:pt>
                <c:pt idx="298">
                  <c:v>10-09</c:v>
                </c:pt>
                <c:pt idx="299">
                  <c:v>10-09</c:v>
                </c:pt>
                <c:pt idx="300">
                  <c:v>10-09</c:v>
                </c:pt>
                <c:pt idx="301">
                  <c:v>10-09</c:v>
                </c:pt>
                <c:pt idx="302">
                  <c:v>10-09</c:v>
                </c:pt>
                <c:pt idx="303">
                  <c:v>10-09</c:v>
                </c:pt>
                <c:pt idx="304">
                  <c:v>10-09</c:v>
                </c:pt>
                <c:pt idx="305">
                  <c:v>10-09</c:v>
                </c:pt>
                <c:pt idx="306">
                  <c:v>10-09</c:v>
                </c:pt>
                <c:pt idx="307">
                  <c:v>10-09</c:v>
                </c:pt>
                <c:pt idx="308">
                  <c:v>10-09</c:v>
                </c:pt>
                <c:pt idx="309">
                  <c:v>10-09</c:v>
                </c:pt>
                <c:pt idx="310">
                  <c:v>10-09</c:v>
                </c:pt>
                <c:pt idx="311">
                  <c:v>10-09</c:v>
                </c:pt>
                <c:pt idx="312">
                  <c:v>10-09</c:v>
                </c:pt>
                <c:pt idx="313">
                  <c:v>10-09</c:v>
                </c:pt>
                <c:pt idx="314">
                  <c:v>10-09</c:v>
                </c:pt>
                <c:pt idx="315">
                  <c:v>10-09</c:v>
                </c:pt>
                <c:pt idx="316">
                  <c:v>10-09</c:v>
                </c:pt>
                <c:pt idx="317">
                  <c:v>10-10</c:v>
                </c:pt>
                <c:pt idx="318">
                  <c:v>10-10</c:v>
                </c:pt>
                <c:pt idx="319">
                  <c:v>10-10</c:v>
                </c:pt>
                <c:pt idx="320">
                  <c:v>10-10</c:v>
                </c:pt>
                <c:pt idx="321">
                  <c:v>10-10</c:v>
                </c:pt>
                <c:pt idx="322">
                  <c:v>10-10</c:v>
                </c:pt>
                <c:pt idx="323">
                  <c:v>10-10</c:v>
                </c:pt>
                <c:pt idx="324">
                  <c:v>10-10</c:v>
                </c:pt>
                <c:pt idx="325">
                  <c:v>10-10</c:v>
                </c:pt>
                <c:pt idx="326">
                  <c:v>10-10</c:v>
                </c:pt>
                <c:pt idx="327">
                  <c:v>10-10</c:v>
                </c:pt>
                <c:pt idx="328">
                  <c:v>10-10</c:v>
                </c:pt>
                <c:pt idx="329">
                  <c:v>10-10</c:v>
                </c:pt>
                <c:pt idx="330">
                  <c:v>10-10</c:v>
                </c:pt>
                <c:pt idx="331">
                  <c:v>10-10</c:v>
                </c:pt>
                <c:pt idx="332">
                  <c:v>10-10</c:v>
                </c:pt>
                <c:pt idx="333">
                  <c:v>10-10</c:v>
                </c:pt>
                <c:pt idx="334">
                  <c:v>10-10</c:v>
                </c:pt>
                <c:pt idx="335">
                  <c:v>10-10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36"/>
                <c:pt idx="0">
                  <c:v>19</c:v>
                </c:pt>
                <c:pt idx="1">
                  <c:v>18.2</c:v>
                </c:pt>
                <c:pt idx="2">
                  <c:v>16.7</c:v>
                </c:pt>
                <c:pt idx="3">
                  <c:v>15.2</c:v>
                </c:pt>
                <c:pt idx="4">
                  <c:v>13.9</c:v>
                </c:pt>
                <c:pt idx="5">
                  <c:v>10.1</c:v>
                </c:pt>
                <c:pt idx="6">
                  <c:v>10.4</c:v>
                </c:pt>
                <c:pt idx="7">
                  <c:v>10.8</c:v>
                </c:pt>
                <c:pt idx="8">
                  <c:v>10.5</c:v>
                </c:pt>
                <c:pt idx="9">
                  <c:v>10.5</c:v>
                </c:pt>
                <c:pt idx="10">
                  <c:v>10.6</c:v>
                </c:pt>
                <c:pt idx="11">
                  <c:v>11.2</c:v>
                </c:pt>
                <c:pt idx="12">
                  <c:v>11.2</c:v>
                </c:pt>
                <c:pt idx="13">
                  <c:v>12.5</c:v>
                </c:pt>
                <c:pt idx="14">
                  <c:v>11.4</c:v>
                </c:pt>
                <c:pt idx="15">
                  <c:v>11.5</c:v>
                </c:pt>
                <c:pt idx="16">
                  <c:v>13.7</c:v>
                </c:pt>
                <c:pt idx="17">
                  <c:v>24</c:v>
                </c:pt>
                <c:pt idx="18">
                  <c:v>23.9</c:v>
                </c:pt>
                <c:pt idx="19">
                  <c:v>24.9</c:v>
                </c:pt>
                <c:pt idx="20">
                  <c:v>27.8</c:v>
                </c:pt>
                <c:pt idx="21">
                  <c:v>28.5</c:v>
                </c:pt>
                <c:pt idx="22">
                  <c:v>25.6</c:v>
                </c:pt>
                <c:pt idx="23">
                  <c:v>21.8</c:v>
                </c:pt>
                <c:pt idx="24">
                  <c:v>21.7</c:v>
                </c:pt>
                <c:pt idx="25">
                  <c:v>24.3</c:v>
                </c:pt>
                <c:pt idx="26">
                  <c:v>25.9</c:v>
                </c:pt>
                <c:pt idx="27">
                  <c:v>25.6</c:v>
                </c:pt>
                <c:pt idx="28">
                  <c:v>25.6</c:v>
                </c:pt>
                <c:pt idx="29">
                  <c:v>26.2</c:v>
                </c:pt>
                <c:pt idx="30">
                  <c:v>24.3</c:v>
                </c:pt>
                <c:pt idx="31">
                  <c:v>19</c:v>
                </c:pt>
                <c:pt idx="32">
                  <c:v>18.5</c:v>
                </c:pt>
                <c:pt idx="33">
                  <c:v>12.4</c:v>
                </c:pt>
                <c:pt idx="34">
                  <c:v>13.4</c:v>
                </c:pt>
                <c:pt idx="35">
                  <c:v>14.8</c:v>
                </c:pt>
                <c:pt idx="36">
                  <c:v>13.9</c:v>
                </c:pt>
                <c:pt idx="37">
                  <c:v>14</c:v>
                </c:pt>
                <c:pt idx="38">
                  <c:v>14</c:v>
                </c:pt>
                <c:pt idx="39">
                  <c:v>15.7</c:v>
                </c:pt>
                <c:pt idx="40">
                  <c:v>20.3</c:v>
                </c:pt>
                <c:pt idx="41">
                  <c:v>26.4</c:v>
                </c:pt>
                <c:pt idx="42">
                  <c:v>29.3</c:v>
                </c:pt>
                <c:pt idx="43">
                  <c:v>31.8</c:v>
                </c:pt>
                <c:pt idx="44">
                  <c:v>34.8</c:v>
                </c:pt>
                <c:pt idx="45">
                  <c:v>35.7</c:v>
                </c:pt>
                <c:pt idx="46">
                  <c:v>32.3</c:v>
                </c:pt>
                <c:pt idx="47">
                  <c:v>29.3</c:v>
                </c:pt>
                <c:pt idx="48">
                  <c:v>39.2</c:v>
                </c:pt>
                <c:pt idx="49">
                  <c:v>38.1</c:v>
                </c:pt>
                <c:pt idx="50">
                  <c:v>37.1</c:v>
                </c:pt>
                <c:pt idx="51">
                  <c:v>28.2</c:v>
                </c:pt>
                <c:pt idx="52">
                  <c:v>26.1</c:v>
                </c:pt>
                <c:pt idx="53">
                  <c:v>34.8</c:v>
                </c:pt>
                <c:pt idx="54">
                  <c:v>34.4</c:v>
                </c:pt>
                <c:pt idx="55">
                  <c:v>18.2</c:v>
                </c:pt>
                <c:pt idx="56">
                  <c:v>18.1</c:v>
                </c:pt>
                <c:pt idx="57">
                  <c:v>17.2</c:v>
                </c:pt>
                <c:pt idx="58">
                  <c:v>13.2</c:v>
                </c:pt>
                <c:pt idx="59">
                  <c:v>18.4</c:v>
                </c:pt>
                <c:pt idx="60">
                  <c:v>14.6</c:v>
                </c:pt>
                <c:pt idx="61">
                  <c:v>14.2</c:v>
                </c:pt>
                <c:pt idx="62">
                  <c:v>14.1</c:v>
                </c:pt>
                <c:pt idx="63">
                  <c:v>15.2</c:v>
                </c:pt>
                <c:pt idx="64">
                  <c:v>17.2</c:v>
                </c:pt>
                <c:pt idx="65">
                  <c:v>38.7</c:v>
                </c:pt>
                <c:pt idx="66">
                  <c:v>41.5</c:v>
                </c:pt>
                <c:pt idx="67">
                  <c:v>45.1</c:v>
                </c:pt>
                <c:pt idx="68">
                  <c:v>47.5</c:v>
                </c:pt>
                <c:pt idx="69">
                  <c:v>49.2</c:v>
                </c:pt>
                <c:pt idx="70">
                  <c:v>48.2</c:v>
                </c:pt>
                <c:pt idx="71">
                  <c:v>42.4</c:v>
                </c:pt>
                <c:pt idx="72">
                  <c:v>25.7</c:v>
                </c:pt>
                <c:pt idx="73">
                  <c:v>26.7</c:v>
                </c:pt>
                <c:pt idx="74">
                  <c:v>24.4</c:v>
                </c:pt>
                <c:pt idx="75">
                  <c:v>23.7</c:v>
                </c:pt>
                <c:pt idx="76">
                  <c:v>23.7</c:v>
                </c:pt>
                <c:pt idx="77">
                  <c:v>25.4</c:v>
                </c:pt>
                <c:pt idx="78">
                  <c:v>24.6</c:v>
                </c:pt>
                <c:pt idx="79">
                  <c:v>19.6</c:v>
                </c:pt>
                <c:pt idx="80">
                  <c:v>18.6</c:v>
                </c:pt>
                <c:pt idx="81">
                  <c:v>17.8</c:v>
                </c:pt>
                <c:pt idx="82">
                  <c:v>13</c:v>
                </c:pt>
                <c:pt idx="83">
                  <c:v>14.6</c:v>
                </c:pt>
                <c:pt idx="84">
                  <c:v>15.6</c:v>
                </c:pt>
                <c:pt idx="85">
                  <c:v>13.4</c:v>
                </c:pt>
                <c:pt idx="86">
                  <c:v>13.9</c:v>
                </c:pt>
                <c:pt idx="87">
                  <c:v>14.7</c:v>
                </c:pt>
                <c:pt idx="88">
                  <c:v>19.1</c:v>
                </c:pt>
                <c:pt idx="89">
                  <c:v>34.6</c:v>
                </c:pt>
                <c:pt idx="90">
                  <c:v>33.6</c:v>
                </c:pt>
                <c:pt idx="91">
                  <c:v>37.8</c:v>
                </c:pt>
                <c:pt idx="92">
                  <c:v>41.2</c:v>
                </c:pt>
                <c:pt idx="93">
                  <c:v>41.9</c:v>
                </c:pt>
                <c:pt idx="94">
                  <c:v>43.7</c:v>
                </c:pt>
                <c:pt idx="95">
                  <c:v>40.7</c:v>
                </c:pt>
                <c:pt idx="96">
                  <c:v>39</c:v>
                </c:pt>
                <c:pt idx="97">
                  <c:v>35.3</c:v>
                </c:pt>
                <c:pt idx="98">
                  <c:v>33</c:v>
                </c:pt>
                <c:pt idx="99">
                  <c:v>24.8</c:v>
                </c:pt>
                <c:pt idx="100">
                  <c:v>22.8</c:v>
                </c:pt>
                <c:pt idx="101">
                  <c:v>24.2</c:v>
                </c:pt>
                <c:pt idx="102">
                  <c:v>22.8</c:v>
                </c:pt>
                <c:pt idx="103">
                  <c:v>18.4</c:v>
                </c:pt>
                <c:pt idx="104">
                  <c:v>19</c:v>
                </c:pt>
                <c:pt idx="105">
                  <c:v>13.1</c:v>
                </c:pt>
                <c:pt idx="106">
                  <c:v>12.6</c:v>
                </c:pt>
                <c:pt idx="107">
                  <c:v>19.2</c:v>
                </c:pt>
                <c:pt idx="108">
                  <c:v>15.3</c:v>
                </c:pt>
                <c:pt idx="109">
                  <c:v>15.6</c:v>
                </c:pt>
                <c:pt idx="110">
                  <c:v>13.8</c:v>
                </c:pt>
                <c:pt idx="111">
                  <c:v>17.9</c:v>
                </c:pt>
                <c:pt idx="112">
                  <c:v>19.4</c:v>
                </c:pt>
                <c:pt idx="113">
                  <c:v>32.7</c:v>
                </c:pt>
                <c:pt idx="114">
                  <c:v>33.9</c:v>
                </c:pt>
                <c:pt idx="115">
                  <c:v>35</c:v>
                </c:pt>
                <c:pt idx="116">
                  <c:v>40.6</c:v>
                </c:pt>
                <c:pt idx="117">
                  <c:v>49.7</c:v>
                </c:pt>
                <c:pt idx="118">
                  <c:v>48.2</c:v>
                </c:pt>
                <c:pt idx="119">
                  <c:v>44.9</c:v>
                </c:pt>
                <c:pt idx="120">
                  <c:v>47.1</c:v>
                </c:pt>
                <c:pt idx="121">
                  <c:v>39.7</c:v>
                </c:pt>
                <c:pt idx="122">
                  <c:v>39.5</c:v>
                </c:pt>
                <c:pt idx="123">
                  <c:v>41</c:v>
                </c:pt>
                <c:pt idx="124">
                  <c:v>37.3</c:v>
                </c:pt>
                <c:pt idx="125">
                  <c:v>37.1</c:v>
                </c:pt>
                <c:pt idx="126">
                  <c:v>36.6</c:v>
                </c:pt>
                <c:pt idx="127">
                  <c:v>24.4</c:v>
                </c:pt>
                <c:pt idx="128">
                  <c:v>25.3</c:v>
                </c:pt>
                <c:pt idx="129">
                  <c:v>25.4</c:v>
                </c:pt>
                <c:pt idx="130">
                  <c:v>23.5</c:v>
                </c:pt>
                <c:pt idx="131">
                  <c:v>22.8</c:v>
                </c:pt>
                <c:pt idx="132">
                  <c:v>24.9</c:v>
                </c:pt>
                <c:pt idx="133">
                  <c:v>25.6</c:v>
                </c:pt>
                <c:pt idx="134">
                  <c:v>24.8</c:v>
                </c:pt>
                <c:pt idx="135">
                  <c:v>31.5</c:v>
                </c:pt>
                <c:pt idx="136">
                  <c:v>32.6</c:v>
                </c:pt>
                <c:pt idx="137">
                  <c:v>45.5</c:v>
                </c:pt>
                <c:pt idx="138">
                  <c:v>48</c:v>
                </c:pt>
                <c:pt idx="139">
                  <c:v>49</c:v>
                </c:pt>
                <c:pt idx="140">
                  <c:v>60</c:v>
                </c:pt>
                <c:pt idx="141">
                  <c:v>62</c:v>
                </c:pt>
                <c:pt idx="142">
                  <c:v>57.2</c:v>
                </c:pt>
                <c:pt idx="143">
                  <c:v>58</c:v>
                </c:pt>
                <c:pt idx="144">
                  <c:v>56.2</c:v>
                </c:pt>
                <c:pt idx="145">
                  <c:v>47.6</c:v>
                </c:pt>
                <c:pt idx="146">
                  <c:v>46.8</c:v>
                </c:pt>
                <c:pt idx="147">
                  <c:v>43.7</c:v>
                </c:pt>
                <c:pt idx="148">
                  <c:v>43.4</c:v>
                </c:pt>
                <c:pt idx="149">
                  <c:v>38.1</c:v>
                </c:pt>
                <c:pt idx="150">
                  <c:v>37.5</c:v>
                </c:pt>
                <c:pt idx="151">
                  <c:v>37.3</c:v>
                </c:pt>
                <c:pt idx="152">
                  <c:v>27.7</c:v>
                </c:pt>
                <c:pt idx="153">
                  <c:v>25.4</c:v>
                </c:pt>
                <c:pt idx="154">
                  <c:v>26.5</c:v>
                </c:pt>
                <c:pt idx="155">
                  <c:v>27.8</c:v>
                </c:pt>
                <c:pt idx="156">
                  <c:v>27.3</c:v>
                </c:pt>
                <c:pt idx="157">
                  <c:v>25.1</c:v>
                </c:pt>
                <c:pt idx="158">
                  <c:v>24.1</c:v>
                </c:pt>
                <c:pt idx="159">
                  <c:v>24.7</c:v>
                </c:pt>
                <c:pt idx="160">
                  <c:v>18.2</c:v>
                </c:pt>
                <c:pt idx="161">
                  <c:v>34.6</c:v>
                </c:pt>
                <c:pt idx="162">
                  <c:v>39.8</c:v>
                </c:pt>
                <c:pt idx="163">
                  <c:v>41.3</c:v>
                </c:pt>
                <c:pt idx="164">
                  <c:v>44.8</c:v>
                </c:pt>
                <c:pt idx="165">
                  <c:v>46.2</c:v>
                </c:pt>
                <c:pt idx="166">
                  <c:v>46.6</c:v>
                </c:pt>
                <c:pt idx="167">
                  <c:v>41.6</c:v>
                </c:pt>
                <c:pt idx="168">
                  <c:v>41.5</c:v>
                </c:pt>
                <c:pt idx="169">
                  <c:v>38.6</c:v>
                </c:pt>
                <c:pt idx="170">
                  <c:v>37</c:v>
                </c:pt>
                <c:pt idx="171">
                  <c:v>35.4</c:v>
                </c:pt>
                <c:pt idx="172">
                  <c:v>35</c:v>
                </c:pt>
                <c:pt idx="173">
                  <c:v>34.1</c:v>
                </c:pt>
                <c:pt idx="174">
                  <c:v>33.6</c:v>
                </c:pt>
                <c:pt idx="175">
                  <c:v>16.8</c:v>
                </c:pt>
                <c:pt idx="176">
                  <c:v>15.8</c:v>
                </c:pt>
                <c:pt idx="177">
                  <c:v>16.1</c:v>
                </c:pt>
                <c:pt idx="178">
                  <c:v>8.5</c:v>
                </c:pt>
                <c:pt idx="179">
                  <c:v>8.6</c:v>
                </c:pt>
                <c:pt idx="180">
                  <c:v>14.1</c:v>
                </c:pt>
                <c:pt idx="181">
                  <c:v>12.8</c:v>
                </c:pt>
                <c:pt idx="182">
                  <c:v>14</c:v>
                </c:pt>
                <c:pt idx="183">
                  <c:v>15.7</c:v>
                </c:pt>
                <c:pt idx="184">
                  <c:v>21.9</c:v>
                </c:pt>
                <c:pt idx="185">
                  <c:v>35.8</c:v>
                </c:pt>
                <c:pt idx="186">
                  <c:v>38</c:v>
                </c:pt>
                <c:pt idx="187">
                  <c:v>47.5</c:v>
                </c:pt>
                <c:pt idx="188">
                  <c:v>49.6</c:v>
                </c:pt>
                <c:pt idx="189">
                  <c:v>49.5</c:v>
                </c:pt>
                <c:pt idx="190">
                  <c:v>49.1</c:v>
                </c:pt>
                <c:pt idx="191">
                  <c:v>44.2</c:v>
                </c:pt>
                <c:pt idx="192">
                  <c:v>43.9</c:v>
                </c:pt>
                <c:pt idx="193">
                  <c:v>39.3</c:v>
                </c:pt>
                <c:pt idx="194">
                  <c:v>40.5</c:v>
                </c:pt>
                <c:pt idx="195">
                  <c:v>40.6</c:v>
                </c:pt>
                <c:pt idx="196">
                  <c:v>37.2</c:v>
                </c:pt>
                <c:pt idx="197">
                  <c:v>35.2</c:v>
                </c:pt>
                <c:pt idx="198">
                  <c:v>35.2</c:v>
                </c:pt>
                <c:pt idx="199">
                  <c:v>18.3</c:v>
                </c:pt>
                <c:pt idx="200">
                  <c:v>17.8</c:v>
                </c:pt>
                <c:pt idx="201">
                  <c:v>21.9</c:v>
                </c:pt>
                <c:pt idx="202">
                  <c:v>23.2</c:v>
                </c:pt>
                <c:pt idx="203">
                  <c:v>25.3</c:v>
                </c:pt>
                <c:pt idx="204">
                  <c:v>24.4</c:v>
                </c:pt>
                <c:pt idx="205">
                  <c:v>25.8</c:v>
                </c:pt>
                <c:pt idx="206">
                  <c:v>24.4</c:v>
                </c:pt>
                <c:pt idx="207">
                  <c:v>29.1</c:v>
                </c:pt>
                <c:pt idx="208">
                  <c:v>32.6</c:v>
                </c:pt>
                <c:pt idx="209">
                  <c:v>51</c:v>
                </c:pt>
                <c:pt idx="210">
                  <c:v>50.8</c:v>
                </c:pt>
                <c:pt idx="211">
                  <c:v>53.2</c:v>
                </c:pt>
                <c:pt idx="212">
                  <c:v>61.5</c:v>
                </c:pt>
                <c:pt idx="213">
                  <c:v>63.2</c:v>
                </c:pt>
                <c:pt idx="214">
                  <c:v>63.3</c:v>
                </c:pt>
                <c:pt idx="215">
                  <c:v>60.9</c:v>
                </c:pt>
                <c:pt idx="216">
                  <c:v>64.2</c:v>
                </c:pt>
                <c:pt idx="217">
                  <c:v>44.9</c:v>
                </c:pt>
                <c:pt idx="218">
                  <c:v>44</c:v>
                </c:pt>
                <c:pt idx="219">
                  <c:v>53.5</c:v>
                </c:pt>
                <c:pt idx="220">
                  <c:v>51.5</c:v>
                </c:pt>
                <c:pt idx="221">
                  <c:v>49.3</c:v>
                </c:pt>
                <c:pt idx="222">
                  <c:v>48.6</c:v>
                </c:pt>
                <c:pt idx="223">
                  <c:v>48.7</c:v>
                </c:pt>
                <c:pt idx="224">
                  <c:v>37.5</c:v>
                </c:pt>
                <c:pt idx="225">
                  <c:v>35.6</c:v>
                </c:pt>
                <c:pt idx="226">
                  <c:v>29.2</c:v>
                </c:pt>
                <c:pt idx="227">
                  <c:v>36</c:v>
                </c:pt>
                <c:pt idx="228">
                  <c:v>36.2</c:v>
                </c:pt>
                <c:pt idx="229">
                  <c:v>29.8</c:v>
                </c:pt>
                <c:pt idx="230">
                  <c:v>28.6</c:v>
                </c:pt>
                <c:pt idx="231">
                  <c:v>29.2</c:v>
                </c:pt>
                <c:pt idx="232">
                  <c:v>30.4</c:v>
                </c:pt>
                <c:pt idx="233">
                  <c:v>36.3</c:v>
                </c:pt>
                <c:pt idx="234">
                  <c:v>42</c:v>
                </c:pt>
                <c:pt idx="235">
                  <c:v>43.9</c:v>
                </c:pt>
                <c:pt idx="236">
                  <c:v>50</c:v>
                </c:pt>
                <c:pt idx="237">
                  <c:v>50.8</c:v>
                </c:pt>
                <c:pt idx="238">
                  <c:v>61.2</c:v>
                </c:pt>
                <c:pt idx="239">
                  <c:v>60.2</c:v>
                </c:pt>
                <c:pt idx="240">
                  <c:v>58.9</c:v>
                </c:pt>
                <c:pt idx="241">
                  <c:v>52.4</c:v>
                </c:pt>
                <c:pt idx="242">
                  <c:v>48.6</c:v>
                </c:pt>
                <c:pt idx="243">
                  <c:v>48.7</c:v>
                </c:pt>
                <c:pt idx="244">
                  <c:v>46.5</c:v>
                </c:pt>
                <c:pt idx="245">
                  <c:v>48.1</c:v>
                </c:pt>
                <c:pt idx="246">
                  <c:v>47</c:v>
                </c:pt>
                <c:pt idx="247">
                  <c:v>46.9</c:v>
                </c:pt>
                <c:pt idx="248">
                  <c:v>35.6</c:v>
                </c:pt>
                <c:pt idx="249">
                  <c:v>26.4</c:v>
                </c:pt>
                <c:pt idx="250">
                  <c:v>24.3</c:v>
                </c:pt>
                <c:pt idx="251">
                  <c:v>24.8</c:v>
                </c:pt>
                <c:pt idx="252">
                  <c:v>27.1</c:v>
                </c:pt>
                <c:pt idx="253">
                  <c:v>25.9</c:v>
                </c:pt>
                <c:pt idx="254">
                  <c:v>25.4</c:v>
                </c:pt>
                <c:pt idx="255">
                  <c:v>27.1</c:v>
                </c:pt>
                <c:pt idx="256">
                  <c:v>30.1</c:v>
                </c:pt>
                <c:pt idx="257">
                  <c:v>29.9</c:v>
                </c:pt>
                <c:pt idx="258">
                  <c:v>39.2</c:v>
                </c:pt>
                <c:pt idx="259">
                  <c:v>41</c:v>
                </c:pt>
                <c:pt idx="260">
                  <c:v>45.2</c:v>
                </c:pt>
                <c:pt idx="261">
                  <c:v>51.8</c:v>
                </c:pt>
                <c:pt idx="262">
                  <c:v>45.7</c:v>
                </c:pt>
                <c:pt idx="263">
                  <c:v>53.1</c:v>
                </c:pt>
                <c:pt idx="264">
                  <c:v>56.7</c:v>
                </c:pt>
                <c:pt idx="265">
                  <c:v>49.6</c:v>
                </c:pt>
                <c:pt idx="266">
                  <c:v>52.2</c:v>
                </c:pt>
                <c:pt idx="267">
                  <c:v>49.5</c:v>
                </c:pt>
                <c:pt idx="268">
                  <c:v>49.9</c:v>
                </c:pt>
                <c:pt idx="269">
                  <c:v>42.4</c:v>
                </c:pt>
                <c:pt idx="270">
                  <c:v>39.7</c:v>
                </c:pt>
                <c:pt idx="271">
                  <c:v>34.5</c:v>
                </c:pt>
                <c:pt idx="272">
                  <c:v>22</c:v>
                </c:pt>
                <c:pt idx="273">
                  <c:v>21.6</c:v>
                </c:pt>
                <c:pt idx="274">
                  <c:v>22</c:v>
                </c:pt>
                <c:pt idx="275">
                  <c:v>25</c:v>
                </c:pt>
                <c:pt idx="276">
                  <c:v>26.4</c:v>
                </c:pt>
                <c:pt idx="277">
                  <c:v>25.1</c:v>
                </c:pt>
                <c:pt idx="278">
                  <c:v>24.2</c:v>
                </c:pt>
                <c:pt idx="279">
                  <c:v>26.5</c:v>
                </c:pt>
                <c:pt idx="280">
                  <c:v>19.4</c:v>
                </c:pt>
                <c:pt idx="281">
                  <c:v>37</c:v>
                </c:pt>
                <c:pt idx="282">
                  <c:v>40.6</c:v>
                </c:pt>
                <c:pt idx="283">
                  <c:v>43.7</c:v>
                </c:pt>
                <c:pt idx="284">
                  <c:v>51.7</c:v>
                </c:pt>
                <c:pt idx="285">
                  <c:v>50.4</c:v>
                </c:pt>
                <c:pt idx="286">
                  <c:v>55.7</c:v>
                </c:pt>
                <c:pt idx="287">
                  <c:v>62.6</c:v>
                </c:pt>
                <c:pt idx="288">
                  <c:v>60.3</c:v>
                </c:pt>
                <c:pt idx="289">
                  <c:v>54.4</c:v>
                </c:pt>
                <c:pt idx="290">
                  <c:v>51.6</c:v>
                </c:pt>
                <c:pt idx="291">
                  <c:v>51.6</c:v>
                </c:pt>
                <c:pt idx="292">
                  <c:v>49.6</c:v>
                </c:pt>
                <c:pt idx="293">
                  <c:v>47</c:v>
                </c:pt>
                <c:pt idx="294">
                  <c:v>47.7</c:v>
                </c:pt>
                <c:pt idx="295">
                  <c:v>45.8</c:v>
                </c:pt>
                <c:pt idx="296">
                  <c:v>30.3</c:v>
                </c:pt>
                <c:pt idx="297">
                  <c:v>28.3</c:v>
                </c:pt>
                <c:pt idx="298">
                  <c:v>25.7</c:v>
                </c:pt>
                <c:pt idx="299">
                  <c:v>24.7</c:v>
                </c:pt>
                <c:pt idx="300">
                  <c:v>27.6</c:v>
                </c:pt>
                <c:pt idx="301">
                  <c:v>26.5</c:v>
                </c:pt>
                <c:pt idx="302">
                  <c:v>22.6</c:v>
                </c:pt>
                <c:pt idx="303">
                  <c:v>24.6</c:v>
                </c:pt>
                <c:pt idx="304">
                  <c:v>22</c:v>
                </c:pt>
                <c:pt idx="305">
                  <c:v>34.3</c:v>
                </c:pt>
                <c:pt idx="306">
                  <c:v>37.2</c:v>
                </c:pt>
                <c:pt idx="307">
                  <c:v>42</c:v>
                </c:pt>
                <c:pt idx="308">
                  <c:v>48.5</c:v>
                </c:pt>
                <c:pt idx="309">
                  <c:v>48.7</c:v>
                </c:pt>
                <c:pt idx="310">
                  <c:v>54.4</c:v>
                </c:pt>
                <c:pt idx="311">
                  <c:v>54.7</c:v>
                </c:pt>
                <c:pt idx="312">
                  <c:v>51.2</c:v>
                </c:pt>
                <c:pt idx="313">
                  <c:v>34.9</c:v>
                </c:pt>
                <c:pt idx="314">
                  <c:v>36.1</c:v>
                </c:pt>
                <c:pt idx="315">
                  <c:v>33.7</c:v>
                </c:pt>
                <c:pt idx="316">
                  <c:v>32.2</c:v>
                </c:pt>
                <c:pt idx="317">
                  <c:v>36.3</c:v>
                </c:pt>
                <c:pt idx="318">
                  <c:v>32.1</c:v>
                </c:pt>
                <c:pt idx="319">
                  <c:v>20.8</c:v>
                </c:pt>
                <c:pt idx="320">
                  <c:v>16.1</c:v>
                </c:pt>
                <c:pt idx="321">
                  <c:v>15.1</c:v>
                </c:pt>
                <c:pt idx="322">
                  <c:v>16.3</c:v>
                </c:pt>
                <c:pt idx="323">
                  <c:v>16</c:v>
                </c:pt>
                <c:pt idx="324">
                  <c:v>11</c:v>
                </c:pt>
                <c:pt idx="325">
                  <c:v>16.7</c:v>
                </c:pt>
                <c:pt idx="326">
                  <c:v>16.4</c:v>
                </c:pt>
                <c:pt idx="327">
                  <c:v>19.5</c:v>
                </c:pt>
                <c:pt idx="328">
                  <c:v>20.8</c:v>
                </c:pt>
                <c:pt idx="329">
                  <c:v>44.3</c:v>
                </c:pt>
                <c:pt idx="330">
                  <c:v>46.1</c:v>
                </c:pt>
                <c:pt idx="331">
                  <c:v>47</c:v>
                </c:pt>
                <c:pt idx="332">
                  <c:v>50.4</c:v>
                </c:pt>
                <c:pt idx="333">
                  <c:v>49.6</c:v>
                </c:pt>
                <c:pt idx="334">
                  <c:v>47</c:v>
                </c:pt>
                <c:pt idx="335">
                  <c:v>42.6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0"/>
        <c:axId val="81983492"/>
        <c:axId val="41578453"/>
      </c:lineChart>
      <c:catAx>
        <c:axId val="8198349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4a5a6a"/>
                </a:solidFill>
                <a:latin typeface="Calibri"/>
              </a:defRPr>
            </a:pPr>
          </a:p>
        </c:txPr>
        <c:crossAx val="41578453"/>
        <c:crosses val="autoZero"/>
        <c:auto val="1"/>
        <c:lblAlgn val="ctr"/>
        <c:lblOffset val="100"/>
        <c:noMultiLvlLbl val="0"/>
      </c:catAx>
      <c:valAx>
        <c:axId val="41578453"/>
        <c:scaling>
          <c:orientation val="minMax"/>
        </c:scaling>
        <c:delete val="0"/>
        <c:axPos val="l"/>
        <c:majorGridlines>
          <c:spPr>
            <a:ln w="6480">
              <a:solidFill>
                <a:srgbClr val="e3e8ed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4a5a6a"/>
                </a:solidFill>
                <a:latin typeface="Calibri"/>
              </a:defRPr>
            </a:pPr>
          </a:p>
        </c:txPr>
        <c:crossAx val="81983492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sz="1100" spc="-1" strike="noStrike">
              <a:solidFill>
                <a:srgbClr val="4a5a6a"/>
              </a:solidFill>
              <a:latin typeface="Calibri"/>
            </a:defRPr>
          </a:pPr>
        </a:p>
      </c:txPr>
    </c:legend>
    <c:plotVisOnly val="1"/>
    <c:dispBlanksAs val="span"/>
  </c:chart>
  <c:spPr>
    <a:noFill/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move the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E4795D57-8241-4C86-B3C2-219C1AD3B88A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Introduce the team and the one-line pitch: a big-data platform that turns raw air-quality data into real-time alerts and 6-hour forecasts for 15 Nepali cities.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FC042F7-0AB9-4866-B7A2-62F2C606493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Problem: winter inversions in the Kathmandu bowl, Indo-Gangetic haze in the Terai, brick kilns, traffic, burning. Few ground stations, no city-level early warning, no Nepali advice. These numbers come from our own Spark analysis of one year of data.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1847476-C609-405A-BC41-79849E71185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Goal: a unified, real-time, nationwide system that monitors, explains, warns ahead of time and builds policy evidence. Stakeholders: citizens, schools, hospitals, DoEnv, MoHP, municipalities.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DF6F3E7-DB15-4A39-A57B-9E6FA15505F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 free, real public sources of four kinds. MODEL: Open-Meteo serves the EU Copernicus CAMS model, which gives hourly PM2.5 and weather (incl. boundary-layer height) for every city, but on a ~40 km grid. MEASURED: DoEnv government stations (1-minute) and Sensor.Community citizen sensors are the ground truth used to validate and calibrate CAMS; the DoEnv API keeps only ~3 weeks, so our HDFS lake becomes the archive. SATELLITE: NASA FIRMS fire hotspots arrive as CSV files, so they go through Flume (fan-out to Kafka and HDFS); NASA POWER gives 25 years of aerosol data, bulk-loaded straight into HDFS. TEXT: Google News headlines for theme tagging and LDA topics. Each source is fetched historically (back-fill) and live (polling). Volume, velocity and variety: ~1M records on the first start, 1-minute streams, and JSON, CSV and text.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3A8A0A2-2766-4D44-AB5B-02AB705D975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Data features: PM2.5 (main), PM10/CO/NO2/SO2/O3/dust for source fingerprinting, boundary-layer height for inversions, wind, rain, humidity, temperature, city/province, event time, and derived AQI, lags and rolling means. Plus extensibility and Nepali localisation.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26CE0C1-578F-46B0-A5C1-B1546F642A7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Lambda architecture, left to right. INGESTION: Python producers → Kafka (5 topics: air, ground, fires, news, alerts); Flume spools FIRMS fire CSVs and fans them out to Kafka and HDFS; NASA POWER history is bulk-loaded into HDFS. MASTER DATASET: HDFS raw / lake / curated zones. SPEED LAYER: Spark Structured Streaming, 8 queries → HDFS Parquet, Cassandra (1-min ground time series), MongoDB (serving), alerts back to Kafka. BATCH LAYER: Spark SQL + MLlib (forecast, calibration, KMeans, LDA), a MapReduce job on YARN, Hive external tables; batch views overwrite speed views (layer = speed | batch). SERVING: Streamlit dashboard.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DC30497-DD00-48F7-8897-B51C403BEC4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Kafka and Spark are the two core big-data tools; the rest of the Hadoop ecosystem fills specific roles. Be honest about trade-offs: Flink would give per-event latency (not needed for air quality), NiFi is heavier than Flume, object stores replace HDFS in the cloud, and Trino is faster than Hive for interactive SQL.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A4601E2-F229-4A42-93AA-2D6AFB9BDB4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Polyglot persistence: Kafka is the replayable buffer; HDFS is the immutable master dataset in three zones; Cassandra takes the heavy 1-minute ground time series (partition key station + day, time-window compaction); MongoDB serves the dashboard with flexible documents and a 2dsphere geo index. The dashboard never scans the lake.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AABC3C8-8B3B-435F-9462-A7B9B5C311A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Idempotent: serving writes are upserts on natural keys, so replays don't double count. Checkpoints give exactly-once offset tracking. Event-time windows in Nepal time with watermarks handle late data. Alerts are fanned back out to Kafka so an SMS gateway can subscribe. Ground alerts need ≥30 one-minute readings in the hour.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3AE6484-DF67-4DC1-924F-EEA5297252E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Spark batch aggregation of the full lake by city and month. Policy implication: time interventions such as kiln restrictions and school schedules to the dry season.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0D8CCC0-6BE2-442B-80D0-31F1DADED2A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Pearson correlations computed with Spark DataFrame stat.corr across all city-hours, separately for the Valley and the Terai.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C5DB44E-053A-4B71-AFFB-69E59CAFD91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Pipeline: StringIndexer → OneHotEncoder → VectorAssembler → GBTRegressor. A chronological split avoids leakage; the baseline is persistence (PM2.5 in 6 h = now). A second model, RandomForest with a 3-fold CrossValidator, calibrates the 40 km CAMS model against measured DoEnv stations: RMSE 19.85 → 10.33 µg/m³. KMeans (k = 4, silhouette 0.41) groups cities into pollution regimes; LDA finds 4 news topics.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EEBC651-2174-4CC0-A42F-A5290D8066C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Commands: docker compose ps ; docker compose run --rm replay ; docker compose logs -f spark-streaming. URLs: dashboard :8501, Kafka-UI :8080, HDFS :9870, Spark UI :4040, YARN :8088. Full script and tab-by-tab explainer: docs/internal/DEMO_GUIDE.md.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8906569-057C-4793-A51F-B088C4DC6C7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Be honest about limitations: CAMS is a ~40 km model, so we validate it against ground stations and calibrate it with a RandomForest; measured history is short; single-node deployment; no security layer yet (production: Kerberos, TLS, Kafka ACLs).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823B5BC-9B88-403B-8C38-D94CA57D57E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Close with the impact: with SMS delivery on the alerts topic and a growing measured archive, this could serve as a national air-quality early-warning system.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45B3096-81C1-4B36-962E-474DF77EA4D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3E775510-2A82-4994-BFB7-B6ED26B7CDFD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EF9123E-67BE-42AD-B5B2-0177967DCE17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li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k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t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o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e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d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i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t 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t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h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e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t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i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t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l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e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t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e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x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t 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f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o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r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m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a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chemeClr val="dk2"/>
                </a:solidFill>
                <a:latin typeface="Calibri"/>
              </a:rPr>
              <a:t>NepAirWatch  ·  Kafka + Spark for clean-air early warning in Nepal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sldNum" idx="1"/>
          </p:nvPr>
        </p:nvSpPr>
        <p:spPr>
          <a:xfrm>
            <a:off x="11155680" y="6400800"/>
            <a:ext cx="45576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8E2A60C-4596-442F-870C-6A7011ADEB11}" type="slidenum">
              <a:rPr b="0" lang="en-US" sz="10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edit the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title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text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Num" idx="2"/>
          </p:nvPr>
        </p:nvSpPr>
        <p:spPr>
          <a:xfrm>
            <a:off x="11155680" y="6400800"/>
            <a:ext cx="45576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lt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4D605B7-3E3C-4DDF-B84E-07A7BD933002}" type="slidenum">
              <a:rPr b="0" lang="en-US" sz="1000" spc="-1" strike="noStrike">
                <a:solidFill>
                  <a:schemeClr val="lt2"/>
                </a:solidFill>
                <a:latin typeface="Calibri"/>
              </a:rPr>
              <a:t>&lt;number&gt;</a:t>
            </a:fld>
            <a:endParaRPr b="0" lang="en-US" sz="10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9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731520" y="2011680"/>
            <a:ext cx="10697040" cy="127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5400" spc="-1" strike="noStrike">
                <a:solidFill>
                  <a:schemeClr val="lt1"/>
                </a:solidFill>
                <a:latin typeface="Arial"/>
                <a:ea typeface="Arial"/>
              </a:rPr>
              <a:t>Nep</a:t>
            </a:r>
            <a:r>
              <a:rPr b="1" lang="en-US" sz="5400" spc="-1" strike="noStrike">
                <a:solidFill>
                  <a:schemeClr val="lt1"/>
                </a:solidFill>
                <a:latin typeface="Arial"/>
                <a:ea typeface="Arial"/>
              </a:rPr>
              <a:t>AirW</a:t>
            </a:r>
            <a:r>
              <a:rPr b="1" lang="en-US" sz="5400" spc="-1" strike="noStrike">
                <a:solidFill>
                  <a:schemeClr val="lt1"/>
                </a:solidFill>
                <a:latin typeface="Arial"/>
                <a:ea typeface="Arial"/>
              </a:rPr>
              <a:t>atch</a:t>
            </a:r>
            <a:endParaRPr b="0" lang="en-US" sz="5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731520" y="3429000"/>
            <a:ext cx="10697040" cy="109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spcBef>
                <a:spcPts val="439"/>
              </a:spcBef>
              <a:buNone/>
              <a:tabLst>
                <a:tab algn="l" pos="0"/>
              </a:tabLst>
            </a:pPr>
            <a:r>
              <a:rPr b="0" lang="en-US" sz="2200" spc="-1" strike="noStrike">
                <a:solidFill>
                  <a:schemeClr val="accent1"/>
                </a:solidFill>
                <a:latin typeface="Calibri"/>
              </a:rPr>
              <a:t>Real-time air-quality monitoring &amp; early warning for Nepal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spcBef>
                <a:spcPts val="439"/>
              </a:spcBef>
              <a:buNone/>
              <a:tabLst>
                <a:tab algn="l" pos="0"/>
              </a:tabLst>
            </a:pPr>
            <a:r>
              <a:rPr b="0" lang="en-US" sz="2200" spc="-1" strike="noStrike">
                <a:solidFill>
                  <a:schemeClr val="accent1"/>
                </a:solidFill>
                <a:latin typeface="Calibri"/>
              </a:rPr>
              <a:t>with Apache Kafka + Apache Spark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logo circle"/>
          <p:cNvSpPr/>
          <p:nvPr/>
        </p:nvSpPr>
        <p:spPr>
          <a:xfrm>
            <a:off x="731520" y="822960"/>
            <a:ext cx="912960" cy="912960"/>
          </a:xfrm>
          <a:prstGeom prst="ellipse">
            <a:avLst/>
          </a:prstGeom>
          <a:solidFill>
            <a:srgbClr val="e07a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8" name="logo icon" descr="preencoded.png"/>
          <p:cNvPicPr/>
          <p:nvPr/>
        </p:nvPicPr>
        <p:blipFill>
          <a:blip r:embed="rId1"/>
          <a:stretch/>
        </p:blipFill>
        <p:spPr>
          <a:xfrm>
            <a:off x="951120" y="1042560"/>
            <a:ext cx="474120" cy="474120"/>
          </a:xfrm>
          <a:prstGeom prst="rect">
            <a:avLst/>
          </a:prstGeom>
          <a:ln w="0">
            <a:noFill/>
          </a:ln>
        </p:spPr>
      </p:pic>
      <p:sp>
        <p:nvSpPr>
          <p:cNvPr id="19" name="team"/>
          <p:cNvSpPr/>
          <p:nvPr/>
        </p:nvSpPr>
        <p:spPr>
          <a:xfrm>
            <a:off x="731520" y="5120640"/>
            <a:ext cx="1069704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chemeClr val="lt2"/>
                </a:solidFill>
                <a:latin typeface="Calibri"/>
              </a:rPr>
              <a:t>Prabin Bohora  Santosh Pandey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chemeClr val="lt2"/>
                </a:solidFill>
                <a:latin typeface="Calibri"/>
              </a:rPr>
              <a:t>Big Data: Implementation Task  ·  Demo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2800" cy="77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chemeClr val="dk1"/>
                </a:solidFill>
                <a:latin typeface="Arial"/>
                <a:ea typeface="Arial"/>
              </a:rPr>
              <a:t>Nepal </a:t>
            </a:r>
            <a:r>
              <a:rPr b="1" lang="en-US" sz="3200" spc="-1" strike="noStrike">
                <a:solidFill>
                  <a:schemeClr val="dk1"/>
                </a:solidFill>
                <a:latin typeface="Arial"/>
                <a:ea typeface="Arial"/>
              </a:rPr>
              <a:t>breathes </a:t>
            </a:r>
            <a:r>
              <a:rPr b="1" lang="en-US" sz="3200" spc="-1" strike="noStrike">
                <a:solidFill>
                  <a:schemeClr val="dk1"/>
                </a:solidFill>
                <a:latin typeface="Arial"/>
                <a:ea typeface="Arial"/>
              </a:rPr>
              <a:t>unsafe </a:t>
            </a:r>
            <a:r>
              <a:rPr b="1" lang="en-US" sz="3200" spc="-1" strike="noStrike">
                <a:solidFill>
                  <a:schemeClr val="dk1"/>
                </a:solidFill>
                <a:latin typeface="Arial"/>
                <a:ea typeface="Arial"/>
              </a:rPr>
              <a:t>air on </a:t>
            </a:r>
            <a:r>
              <a:rPr b="1" lang="en-US" sz="3200" spc="-1" strike="noStrike">
                <a:solidFill>
                  <a:schemeClr val="dk1"/>
                </a:solidFill>
                <a:latin typeface="Arial"/>
                <a:ea typeface="Arial"/>
              </a:rPr>
              <a:t>most </a:t>
            </a:r>
            <a:r>
              <a:rPr b="1" lang="en-US" sz="3200" spc="-1" strike="noStrike">
                <a:solidFill>
                  <a:schemeClr val="dk1"/>
                </a:solidFill>
                <a:latin typeface="Arial"/>
                <a:ea typeface="Arial"/>
              </a:rPr>
              <a:t>days of </a:t>
            </a:r>
            <a:r>
              <a:rPr b="1" lang="en-US" sz="3200" spc="-1" strike="noStrike">
                <a:solidFill>
                  <a:schemeClr val="dk1"/>
                </a:solidFill>
                <a:latin typeface="Arial"/>
                <a:ea typeface="Arial"/>
              </a:rPr>
              <a:t>the year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stat 1"/>
          <p:cNvSpPr/>
          <p:nvPr/>
        </p:nvSpPr>
        <p:spPr>
          <a:xfrm>
            <a:off x="548640" y="1325880"/>
            <a:ext cx="191880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400" spc="-1" strike="noStrike">
                <a:solidFill>
                  <a:schemeClr val="accent2"/>
                </a:solidFill>
                <a:latin typeface="Calibri"/>
              </a:rPr>
              <a:t>270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stat 1 label"/>
          <p:cNvSpPr/>
          <p:nvPr/>
        </p:nvSpPr>
        <p:spPr>
          <a:xfrm>
            <a:off x="2514600" y="1371600"/>
            <a:ext cx="246744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days Biratnagar broke Nepal's 24-h PM2.5 standard (40 µg/m³)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stat 2"/>
          <p:cNvSpPr/>
          <p:nvPr/>
        </p:nvSpPr>
        <p:spPr>
          <a:xfrm>
            <a:off x="548640" y="2926080"/>
            <a:ext cx="191880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400" spc="-1" strike="noStrike">
                <a:solidFill>
                  <a:schemeClr val="accent1"/>
                </a:solidFill>
                <a:latin typeface="Calibri"/>
              </a:rPr>
              <a:t>174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stat 2 label"/>
          <p:cNvSpPr/>
          <p:nvPr/>
        </p:nvSpPr>
        <p:spPr>
          <a:xfrm>
            <a:off x="2514600" y="2971800"/>
            <a:ext cx="246744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days Kathmandu broke the national standard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stat 3"/>
          <p:cNvSpPr/>
          <p:nvPr/>
        </p:nvSpPr>
        <p:spPr>
          <a:xfrm>
            <a:off x="548640" y="4526280"/>
            <a:ext cx="191880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400" spc="-1" strike="noStrike">
                <a:solidFill>
                  <a:schemeClr val="accent3"/>
                </a:solidFill>
                <a:latin typeface="Calibri"/>
              </a:rPr>
              <a:t>204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stat 3 label"/>
          <p:cNvSpPr/>
          <p:nvPr/>
        </p:nvSpPr>
        <p:spPr>
          <a:xfrm>
            <a:off x="2514600" y="4572000"/>
            <a:ext cx="246744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days even "clean" Pokhara exceeded the WHO guideline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7" name="exceedance chart"/>
          <p:cNvGraphicFramePr/>
          <p:nvPr/>
        </p:nvGraphicFramePr>
        <p:xfrm>
          <a:off x="5120640" y="1234440"/>
          <a:ext cx="6582240" cy="4982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8" name="PlaceHolder 2"/>
          <p:cNvSpPr>
            <a:spLocks noGrp="1"/>
          </p:cNvSpPr>
          <p:nvPr>
            <p:ph type="sldNum" idx="6"/>
          </p:nvPr>
        </p:nvSpPr>
        <p:spPr>
          <a:xfrm>
            <a:off x="11155680" y="6400800"/>
            <a:ext cx="45576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A69807D-65D6-4917-86DC-037A0ABC606E}" type="slidenum">
              <a:rPr b="0" lang="en-US" sz="10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2800" cy="77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chemeClr val="dk1"/>
                </a:solidFill>
                <a:latin typeface="Arial"/>
                <a:ea typeface="Arial"/>
              </a:rPr>
              <a:t>Problem </a:t>
            </a:r>
            <a:r>
              <a:rPr b="1" lang="en-US" sz="3200" spc="-1" strike="noStrike">
                <a:solidFill>
                  <a:schemeClr val="dk1"/>
                </a:solidFill>
                <a:latin typeface="Arial"/>
                <a:ea typeface="Arial"/>
              </a:rPr>
              <a:t>definitio</a:t>
            </a:r>
            <a:r>
              <a:rPr b="1" lang="en-US" sz="3200" spc="-1" strike="noStrike">
                <a:solidFill>
                  <a:schemeClr val="dk1"/>
                </a:solidFill>
                <a:latin typeface="Arial"/>
                <a:ea typeface="Arial"/>
              </a:rPr>
              <a:t>n: what </a:t>
            </a:r>
            <a:r>
              <a:rPr b="1" lang="en-US" sz="3200" spc="-1" strike="noStrike">
                <a:solidFill>
                  <a:schemeClr val="dk1"/>
                </a:solidFill>
                <a:latin typeface="Arial"/>
                <a:ea typeface="Arial"/>
              </a:rPr>
              <a:t>is </a:t>
            </a:r>
            <a:r>
              <a:rPr b="1" lang="en-US" sz="3200" spc="-1" strike="noStrike">
                <a:solidFill>
                  <a:schemeClr val="dk1"/>
                </a:solidFill>
                <a:latin typeface="Arial"/>
                <a:ea typeface="Arial"/>
              </a:rPr>
              <a:t>missing </a:t>
            </a:r>
            <a:r>
              <a:rPr b="1" lang="en-US" sz="3200" spc="-1" strike="noStrike">
                <a:solidFill>
                  <a:schemeClr val="dk1"/>
                </a:solidFill>
                <a:latin typeface="Arial"/>
                <a:ea typeface="Arial"/>
              </a:rPr>
              <a:t>today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gap 1 card"/>
          <p:cNvSpPr/>
          <p:nvPr/>
        </p:nvSpPr>
        <p:spPr>
          <a:xfrm>
            <a:off x="548640" y="1371600"/>
            <a:ext cx="5439240" cy="210168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gap 1 circle"/>
          <p:cNvSpPr/>
          <p:nvPr/>
        </p:nvSpPr>
        <p:spPr>
          <a:xfrm>
            <a:off x="868680" y="1737360"/>
            <a:ext cx="821520" cy="821520"/>
          </a:xfrm>
          <a:prstGeom prst="ellipse">
            <a:avLst/>
          </a:prstGeom>
          <a:solidFill>
            <a:srgbClr val="e07a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2" name="gap 1 icon" descr="preencoded.png"/>
          <p:cNvPicPr/>
          <p:nvPr/>
        </p:nvPicPr>
        <p:blipFill>
          <a:blip r:embed="rId1"/>
          <a:stretch/>
        </p:blipFill>
        <p:spPr>
          <a:xfrm>
            <a:off x="1066320" y="1935000"/>
            <a:ext cx="426600" cy="426600"/>
          </a:xfrm>
          <a:prstGeom prst="rect">
            <a:avLst/>
          </a:prstGeom>
          <a:ln w="0">
            <a:noFill/>
          </a:ln>
        </p:spPr>
      </p:pic>
      <p:sp>
        <p:nvSpPr>
          <p:cNvPr id="33" name="gap 1 head"/>
          <p:cNvSpPr/>
          <p:nvPr/>
        </p:nvSpPr>
        <p:spPr>
          <a:xfrm>
            <a:off x="1920240" y="1691640"/>
            <a:ext cx="38390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Sparse monitoring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gap 1 body"/>
          <p:cNvSpPr/>
          <p:nvPr/>
        </p:nvSpPr>
        <p:spPr>
          <a:xfrm>
            <a:off x="1920240" y="2194560"/>
            <a:ext cx="383904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2"/>
                </a:solidFill>
                <a:latin typeface="Calibri"/>
              </a:rPr>
              <a:t>Reference stations sit mostly in Kathmandu Valley; Terai and far-west cities are largely unmonitored.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gap 2 card"/>
          <p:cNvSpPr/>
          <p:nvPr/>
        </p:nvSpPr>
        <p:spPr>
          <a:xfrm>
            <a:off x="6172200" y="1371600"/>
            <a:ext cx="5439240" cy="210168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gap 2 circle"/>
          <p:cNvSpPr/>
          <p:nvPr/>
        </p:nvSpPr>
        <p:spPr>
          <a:xfrm>
            <a:off x="6492240" y="1737360"/>
            <a:ext cx="821520" cy="821520"/>
          </a:xfrm>
          <a:prstGeom prst="ellipse">
            <a:avLst/>
          </a:prstGeom>
          <a:solidFill>
            <a:srgbClr val="e07a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7" name="gap 2 icon" descr="preencoded.png"/>
          <p:cNvPicPr/>
          <p:nvPr/>
        </p:nvPicPr>
        <p:blipFill>
          <a:blip r:embed="rId2"/>
          <a:stretch/>
        </p:blipFill>
        <p:spPr>
          <a:xfrm>
            <a:off x="6689880" y="1935000"/>
            <a:ext cx="426600" cy="426600"/>
          </a:xfrm>
          <a:prstGeom prst="rect">
            <a:avLst/>
          </a:prstGeom>
          <a:ln w="0">
            <a:noFill/>
          </a:ln>
        </p:spPr>
      </p:pic>
      <p:sp>
        <p:nvSpPr>
          <p:cNvPr id="38" name="gap 2 head"/>
          <p:cNvSpPr/>
          <p:nvPr/>
        </p:nvSpPr>
        <p:spPr>
          <a:xfrm>
            <a:off x="7543800" y="1691640"/>
            <a:ext cx="38390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No early warning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gap 2 body"/>
          <p:cNvSpPr/>
          <p:nvPr/>
        </p:nvSpPr>
        <p:spPr>
          <a:xfrm>
            <a:off x="7543800" y="2194560"/>
            <a:ext cx="383904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2"/>
                </a:solidFill>
                <a:latin typeface="Calibri"/>
              </a:rPr>
              <a:t>Schools, hospitals and outdoor workers learn about bad air only after they are exposed.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gap 3 card"/>
          <p:cNvSpPr/>
          <p:nvPr/>
        </p:nvSpPr>
        <p:spPr>
          <a:xfrm>
            <a:off x="548640" y="3703320"/>
            <a:ext cx="5439240" cy="210168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gap 3 circle"/>
          <p:cNvSpPr/>
          <p:nvPr/>
        </p:nvSpPr>
        <p:spPr>
          <a:xfrm>
            <a:off x="868680" y="4069080"/>
            <a:ext cx="821520" cy="821520"/>
          </a:xfrm>
          <a:prstGeom prst="ellipse">
            <a:avLst/>
          </a:prstGeom>
          <a:solidFill>
            <a:srgbClr val="e07a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2" name="gap 3 icon" descr="preencoded.png"/>
          <p:cNvPicPr/>
          <p:nvPr/>
        </p:nvPicPr>
        <p:blipFill>
          <a:blip r:embed="rId3"/>
          <a:stretch/>
        </p:blipFill>
        <p:spPr>
          <a:xfrm>
            <a:off x="1066320" y="4266720"/>
            <a:ext cx="426600" cy="426600"/>
          </a:xfrm>
          <a:prstGeom prst="rect">
            <a:avLst/>
          </a:prstGeom>
          <a:ln w="0">
            <a:noFill/>
          </a:ln>
        </p:spPr>
      </p:pic>
      <p:sp>
        <p:nvSpPr>
          <p:cNvPr id="43" name="gap 3 head"/>
          <p:cNvSpPr/>
          <p:nvPr/>
        </p:nvSpPr>
        <p:spPr>
          <a:xfrm>
            <a:off x="1920240" y="4023360"/>
            <a:ext cx="38390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Numbers, not advice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gap 3 body"/>
          <p:cNvSpPr/>
          <p:nvPr/>
        </p:nvSpPr>
        <p:spPr>
          <a:xfrm>
            <a:off x="1920240" y="4526280"/>
            <a:ext cx="383904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2"/>
                </a:solidFill>
                <a:latin typeface="Calibri"/>
              </a:rPr>
              <a:t>µg/m³ means little to citizens. People need colour categories and advice in Nepali.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gap 4 card"/>
          <p:cNvSpPr/>
          <p:nvPr/>
        </p:nvSpPr>
        <p:spPr>
          <a:xfrm>
            <a:off x="6172200" y="3703320"/>
            <a:ext cx="5439240" cy="210168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gap 4 circle"/>
          <p:cNvSpPr/>
          <p:nvPr/>
        </p:nvSpPr>
        <p:spPr>
          <a:xfrm>
            <a:off x="6492240" y="4069080"/>
            <a:ext cx="821520" cy="821520"/>
          </a:xfrm>
          <a:prstGeom prst="ellipse">
            <a:avLst/>
          </a:prstGeom>
          <a:solidFill>
            <a:srgbClr val="e07a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7" name="gap 4 icon" descr="preencoded.png"/>
          <p:cNvPicPr/>
          <p:nvPr/>
        </p:nvPicPr>
        <p:blipFill>
          <a:blip r:embed="rId4"/>
          <a:stretch/>
        </p:blipFill>
        <p:spPr>
          <a:xfrm>
            <a:off x="6689880" y="4266720"/>
            <a:ext cx="426600" cy="426600"/>
          </a:xfrm>
          <a:prstGeom prst="rect">
            <a:avLst/>
          </a:prstGeom>
          <a:ln w="0">
            <a:noFill/>
          </a:ln>
        </p:spPr>
      </p:pic>
      <p:sp>
        <p:nvSpPr>
          <p:cNvPr id="48" name="gap 4 head"/>
          <p:cNvSpPr/>
          <p:nvPr/>
        </p:nvSpPr>
        <p:spPr>
          <a:xfrm>
            <a:off x="7543800" y="4023360"/>
            <a:ext cx="38390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No policy evidence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gap 4 body"/>
          <p:cNvSpPr/>
          <p:nvPr/>
        </p:nvSpPr>
        <p:spPr>
          <a:xfrm>
            <a:off x="7543800" y="4526280"/>
            <a:ext cx="383904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2"/>
                </a:solidFill>
                <a:latin typeface="Calibri"/>
              </a:rPr>
              <a:t>Authorities lack long-term, multi-city evidence of when and where standards are breached.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sldNum" idx="7"/>
          </p:nvPr>
        </p:nvSpPr>
        <p:spPr>
          <a:xfrm>
            <a:off x="11155680" y="6400800"/>
            <a:ext cx="45576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3A5CDA5-FB1E-4180-8D27-8DB23D9C9F82}" type="slidenum">
              <a:rPr b="0" lang="en-US" sz="10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2800" cy="77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chemeClr val="dk1"/>
                </a:solidFill>
                <a:latin typeface="Arial"/>
                <a:ea typeface="Arial"/>
              </a:rPr>
              <a:t>Data sources: six real sources, 15 cities, all 7 provinces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volume card"/>
          <p:cNvSpPr/>
          <p:nvPr/>
        </p:nvSpPr>
        <p:spPr>
          <a:xfrm>
            <a:off x="7635240" y="1325880"/>
            <a:ext cx="3976920" cy="4022640"/>
          </a:xfrm>
          <a:prstGeom prst="roundRect">
            <a:avLst>
              <a:gd name="adj" fmla="val 2727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city list"/>
          <p:cNvSpPr/>
          <p:nvPr/>
        </p:nvSpPr>
        <p:spPr>
          <a:xfrm>
            <a:off x="548640" y="5577840"/>
            <a:ext cx="110628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chemeClr val="dk2"/>
                </a:solidFill>
                <a:latin typeface="Calibri"/>
              </a:rPr>
              <a:t>Koshi: Biratnagar, Dharan · Madhesh: Janakpur, Birgunj · Bagmati: Kathmandu, Lalitpur, Bhaktapur, Hetauda, Bharatpur · Gandaki: Pokhara · Lumbini: Butwal, Nepalgunj · Karnali: Surkhet · Sudurpashchim: Dhangadhi, Mahendranagar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sldNum" idx="8"/>
          </p:nvPr>
        </p:nvSpPr>
        <p:spPr>
          <a:xfrm>
            <a:off x="11155680" y="6400800"/>
            <a:ext cx="45576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DE25C9D-E1DF-4D9D-A1ED-3B6465FE4ACB}" type="slidenum">
              <a:rPr b="0" lang="en-US" sz="10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source 1 circle"/>
          <p:cNvSpPr/>
          <p:nvPr/>
        </p:nvSpPr>
        <p:spPr>
          <a:xfrm>
            <a:off x="548640" y="1325880"/>
            <a:ext cx="639360" cy="639360"/>
          </a:xfrm>
          <a:prstGeom prst="ellipse">
            <a:avLst/>
          </a:prstGeom>
          <a:solidFill>
            <a:srgbClr val="c039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56" name="source 1 icon" descr="image.png"/>
          <p:cNvPicPr/>
          <p:nvPr/>
        </p:nvPicPr>
        <p:blipFill>
          <a:blip r:embed="rId1"/>
          <a:stretch/>
        </p:blipFill>
        <p:spPr>
          <a:xfrm>
            <a:off x="704160" y="1481400"/>
            <a:ext cx="328320" cy="328320"/>
          </a:xfrm>
          <a:prstGeom prst="rect">
            <a:avLst/>
          </a:prstGeom>
          <a:ln w="0">
            <a:noFill/>
          </a:ln>
        </p:spPr>
      </p:pic>
      <p:sp>
        <p:nvSpPr>
          <p:cNvPr id="57" name="source 1 head"/>
          <p:cNvSpPr/>
          <p:nvPr/>
        </p:nvSpPr>
        <p:spPr>
          <a:xfrm>
            <a:off x="1325880" y="1325880"/>
            <a:ext cx="2651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Open-Meteo · CAMS model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ource 1 body"/>
          <p:cNvSpPr/>
          <p:nvPr/>
        </p:nvSpPr>
        <p:spPr>
          <a:xfrm>
            <a:off x="1325880" y="1710000"/>
            <a:ext cx="265104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chemeClr val="dk2"/>
                </a:solidFill>
                <a:latin typeface="Calibri"/>
              </a:rPr>
              <a:t>EU Copernicus air-quality model + weather: PM2.5, PM10, gases, mixing height · hourly, 15 cities · 1 yr + live → Kafka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ource 2 circle"/>
          <p:cNvSpPr/>
          <p:nvPr/>
        </p:nvSpPr>
        <p:spPr>
          <a:xfrm>
            <a:off x="4069080" y="1325880"/>
            <a:ext cx="639360" cy="639360"/>
          </a:xfrm>
          <a:prstGeom prst="ellipse">
            <a:avLst/>
          </a:prstGeom>
          <a:solidFill>
            <a:srgbClr val="2e86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0" name="source 2 icon" descr="image.png"/>
          <p:cNvPicPr/>
          <p:nvPr/>
        </p:nvPicPr>
        <p:blipFill>
          <a:blip r:embed="rId2"/>
          <a:stretch/>
        </p:blipFill>
        <p:spPr>
          <a:xfrm>
            <a:off x="4224600" y="1481400"/>
            <a:ext cx="328320" cy="328320"/>
          </a:xfrm>
          <a:prstGeom prst="rect">
            <a:avLst/>
          </a:prstGeom>
          <a:ln w="0">
            <a:noFill/>
          </a:ln>
        </p:spPr>
      </p:pic>
      <p:sp>
        <p:nvSpPr>
          <p:cNvPr id="61" name="source 2 head"/>
          <p:cNvSpPr/>
          <p:nvPr/>
        </p:nvSpPr>
        <p:spPr>
          <a:xfrm>
            <a:off x="4846320" y="1325880"/>
            <a:ext cx="2651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DoEnv Nepal stations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ource 2 body"/>
          <p:cNvSpPr/>
          <p:nvPr/>
        </p:nvSpPr>
        <p:spPr>
          <a:xfrm>
            <a:off x="4846320" y="1710000"/>
            <a:ext cx="265104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chemeClr val="dk2"/>
                </a:solidFill>
                <a:latin typeface="Calibri"/>
              </a:rPr>
              <a:t>Government reference monitors, ~30 sites, all 7 provinces · PM1 / PM2.5 / PM10 every minute · ground truth → Kafka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source 3 circle"/>
          <p:cNvSpPr/>
          <p:nvPr/>
        </p:nvSpPr>
        <p:spPr>
          <a:xfrm>
            <a:off x="548640" y="2697480"/>
            <a:ext cx="639360" cy="639360"/>
          </a:xfrm>
          <a:prstGeom prst="ellipse">
            <a:avLst/>
          </a:prstGeom>
          <a:solidFill>
            <a:srgbClr val="5e8c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4" name="source 3 icon" descr="FaUsers.png"/>
          <p:cNvPicPr/>
          <p:nvPr/>
        </p:nvPicPr>
        <p:blipFill>
          <a:blip r:embed="rId3"/>
          <a:stretch/>
        </p:blipFill>
        <p:spPr>
          <a:xfrm>
            <a:off x="704160" y="2853000"/>
            <a:ext cx="328320" cy="328320"/>
          </a:xfrm>
          <a:prstGeom prst="rect">
            <a:avLst/>
          </a:prstGeom>
          <a:ln w="0">
            <a:noFill/>
          </a:ln>
        </p:spPr>
      </p:pic>
      <p:sp>
        <p:nvSpPr>
          <p:cNvPr id="65" name="source 3 head"/>
          <p:cNvSpPr/>
          <p:nvPr/>
        </p:nvSpPr>
        <p:spPr>
          <a:xfrm>
            <a:off x="1325880" y="2697480"/>
            <a:ext cx="2651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Sensor.Community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ource 3 body"/>
          <p:cNvSpPr/>
          <p:nvPr/>
        </p:nvSpPr>
        <p:spPr>
          <a:xfrm>
            <a:off x="1325880" y="3081600"/>
            <a:ext cx="265104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chemeClr val="dk2"/>
                </a:solidFill>
                <a:latin typeface="Calibri"/>
              </a:rPr>
              <a:t>Low-cost citizen sensors (SDS011) in Kathmandu and Madhesh · PM2.5 / PM10 every ~5 min → Kafka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ource 4 circle"/>
          <p:cNvSpPr/>
          <p:nvPr/>
        </p:nvSpPr>
        <p:spPr>
          <a:xfrm>
            <a:off x="4069080" y="2697480"/>
            <a:ext cx="639360" cy="639360"/>
          </a:xfrm>
          <a:prstGeom prst="ellipse">
            <a:avLst/>
          </a:prstGeom>
          <a:solidFill>
            <a:srgbClr val="e07a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8" name="source 4 icon" descr="image.png"/>
          <p:cNvPicPr/>
          <p:nvPr/>
        </p:nvPicPr>
        <p:blipFill>
          <a:blip r:embed="rId4"/>
          <a:stretch/>
        </p:blipFill>
        <p:spPr>
          <a:xfrm>
            <a:off x="4224600" y="2853000"/>
            <a:ext cx="328320" cy="328320"/>
          </a:xfrm>
          <a:prstGeom prst="rect">
            <a:avLst/>
          </a:prstGeom>
          <a:ln w="0">
            <a:noFill/>
          </a:ln>
        </p:spPr>
      </p:pic>
      <p:sp>
        <p:nvSpPr>
          <p:cNvPr id="69" name="source 4 head"/>
          <p:cNvSpPr/>
          <p:nvPr/>
        </p:nvSpPr>
        <p:spPr>
          <a:xfrm>
            <a:off x="4846320" y="2697480"/>
            <a:ext cx="2651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NASA FIRMS fires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ource 4 body"/>
          <p:cNvSpPr/>
          <p:nvPr/>
        </p:nvSpPr>
        <p:spPr>
          <a:xfrm>
            <a:off x="4846320" y="3081600"/>
            <a:ext cx="265104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chemeClr val="dk2"/>
                </a:solidFill>
                <a:latin typeface="Calibri"/>
              </a:rPr>
              <a:t>VIIRS + MODIS satellite fire hotspots over Nepal and the Indo-Gangetic Plain · CSV files → Flume → Kafka + HDFS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ource 5 circle"/>
          <p:cNvSpPr/>
          <p:nvPr/>
        </p:nvSpPr>
        <p:spPr>
          <a:xfrm>
            <a:off x="548640" y="4069080"/>
            <a:ext cx="639360" cy="639360"/>
          </a:xfrm>
          <a:prstGeom prst="ellipse">
            <a:avLst/>
          </a:prstGeom>
          <a:solidFill>
            <a:srgbClr val="8e6c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2" name="source 5 icon" descr="FaGlobeAsia.png"/>
          <p:cNvPicPr/>
          <p:nvPr/>
        </p:nvPicPr>
        <p:blipFill>
          <a:blip r:embed="rId5"/>
          <a:stretch/>
        </p:blipFill>
        <p:spPr>
          <a:xfrm>
            <a:off x="704160" y="4224600"/>
            <a:ext cx="328320" cy="328320"/>
          </a:xfrm>
          <a:prstGeom prst="rect">
            <a:avLst/>
          </a:prstGeom>
          <a:ln w="0">
            <a:noFill/>
          </a:ln>
        </p:spPr>
      </p:pic>
      <p:sp>
        <p:nvSpPr>
          <p:cNvPr id="73" name="source 5 head"/>
          <p:cNvSpPr/>
          <p:nvPr/>
        </p:nvSpPr>
        <p:spPr>
          <a:xfrm>
            <a:off x="1325880" y="4069080"/>
            <a:ext cx="2651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NASA POWER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ource 5 body"/>
          <p:cNvSpPr/>
          <p:nvPr/>
        </p:nvSpPr>
        <p:spPr>
          <a:xfrm>
            <a:off x="1325880" y="4453200"/>
            <a:ext cx="265104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chemeClr val="dk2"/>
                </a:solidFill>
                <a:latin typeface="Calibri"/>
              </a:rPr>
              <a:t>Daily aerosol optical depth (haze) + climate per city, 2001 → today (25 years) · bulk-loaded into HDFS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ource 6 circle"/>
          <p:cNvSpPr/>
          <p:nvPr/>
        </p:nvSpPr>
        <p:spPr>
          <a:xfrm>
            <a:off x="4069080" y="4069080"/>
            <a:ext cx="639360" cy="639360"/>
          </a:xfrm>
          <a:prstGeom prst="ellipse">
            <a:avLst/>
          </a:prstGeom>
          <a:solidFill>
            <a:srgbClr val="4a5a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6" name="source 6 icon" descr="FaNewspaper.png"/>
          <p:cNvPicPr/>
          <p:nvPr/>
        </p:nvPicPr>
        <p:blipFill>
          <a:blip r:embed="rId6"/>
          <a:stretch/>
        </p:blipFill>
        <p:spPr>
          <a:xfrm>
            <a:off x="4224600" y="4224600"/>
            <a:ext cx="328320" cy="328320"/>
          </a:xfrm>
          <a:prstGeom prst="rect">
            <a:avLst/>
          </a:prstGeom>
          <a:ln w="0">
            <a:noFill/>
          </a:ln>
        </p:spPr>
      </p:pic>
      <p:sp>
        <p:nvSpPr>
          <p:cNvPr id="77" name="source 6 head"/>
          <p:cNvSpPr/>
          <p:nvPr/>
        </p:nvSpPr>
        <p:spPr>
          <a:xfrm>
            <a:off x="4846320" y="4069080"/>
            <a:ext cx="2651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Google News RSS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ource 6 body"/>
          <p:cNvSpPr/>
          <p:nvPr/>
        </p:nvSpPr>
        <p:spPr>
          <a:xfrm>
            <a:off x="4846320" y="4453200"/>
            <a:ext cx="265104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chemeClr val="dk2"/>
                </a:solidFill>
                <a:latin typeface="Calibri"/>
              </a:rPr>
              <a:t>Headlines on pollution, haze, fires and brick kilns · unstructured text → Kafka → Spark NLP / LDA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volume 1"/>
          <p:cNvSpPr/>
          <p:nvPr/>
        </p:nvSpPr>
        <p:spPr>
          <a:xfrm>
            <a:off x="7909560" y="1463040"/>
            <a:ext cx="35197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chemeClr val="accent1"/>
                </a:solidFill>
                <a:latin typeface="Calibri"/>
              </a:rPr>
              <a:t>131,700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volume 1 label"/>
          <p:cNvSpPr/>
          <p:nvPr/>
        </p:nvSpPr>
        <p:spPr>
          <a:xfrm>
            <a:off x="7909560" y="1947600"/>
            <a:ext cx="35197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chemeClr val="lt2"/>
                </a:solidFill>
                <a:latin typeface="Calibri"/>
              </a:rPr>
              <a:t>hourly CAMS + weather records (1 year)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volume 2"/>
          <p:cNvSpPr/>
          <p:nvPr/>
        </p:nvSpPr>
        <p:spPr>
          <a:xfrm>
            <a:off x="7909560" y="2423160"/>
            <a:ext cx="35197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chemeClr val="accent1"/>
                </a:solidFill>
                <a:latin typeface="Calibri"/>
              </a:rPr>
              <a:t>~700,000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volume 2 label"/>
          <p:cNvSpPr/>
          <p:nvPr/>
        </p:nvSpPr>
        <p:spPr>
          <a:xfrm>
            <a:off x="7909560" y="2907720"/>
            <a:ext cx="35197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chemeClr val="lt2"/>
                </a:solidFill>
                <a:latin typeface="Calibri"/>
              </a:rPr>
              <a:t>1-minute ground readings (+~45k a day)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volume 3"/>
          <p:cNvSpPr/>
          <p:nvPr/>
        </p:nvSpPr>
        <p:spPr>
          <a:xfrm>
            <a:off x="7909560" y="3383280"/>
            <a:ext cx="35197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chemeClr val="accent1"/>
                </a:solidFill>
                <a:latin typeface="Calibri"/>
              </a:rPr>
              <a:t>141,195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volume 3 label"/>
          <p:cNvSpPr/>
          <p:nvPr/>
        </p:nvSpPr>
        <p:spPr>
          <a:xfrm>
            <a:off x="7909560" y="3867840"/>
            <a:ext cx="35197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chemeClr val="lt2"/>
                </a:solidFill>
                <a:latin typeface="Calibri"/>
              </a:rPr>
              <a:t>NASA POWER city-days, 2001 → today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volume 4"/>
          <p:cNvSpPr/>
          <p:nvPr/>
        </p:nvSpPr>
        <p:spPr>
          <a:xfrm>
            <a:off x="7909560" y="4343400"/>
            <a:ext cx="35197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chemeClr val="accent1"/>
                </a:solidFill>
                <a:latin typeface="Calibri"/>
              </a:rPr>
              <a:t>1,275 · 383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volume 4 label"/>
          <p:cNvSpPr/>
          <p:nvPr/>
        </p:nvSpPr>
        <p:spPr>
          <a:xfrm>
            <a:off x="7909560" y="4827960"/>
            <a:ext cx="35197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chemeClr val="lt2"/>
                </a:solidFill>
                <a:latin typeface="Calibri"/>
              </a:rPr>
              <a:t>fire hotspots (7 days) · news articles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2800" cy="77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chemeClr val="dk1"/>
                </a:solidFill>
                <a:latin typeface="Arial"/>
                <a:ea typeface="Arial"/>
              </a:rPr>
              <a:t>Important features considered in the design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feature 1 card"/>
          <p:cNvSpPr/>
          <p:nvPr/>
        </p:nvSpPr>
        <p:spPr>
          <a:xfrm>
            <a:off x="548640" y="1371600"/>
            <a:ext cx="3519000" cy="223884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feature 1 circle"/>
          <p:cNvSpPr/>
          <p:nvPr/>
        </p:nvSpPr>
        <p:spPr>
          <a:xfrm>
            <a:off x="822960" y="1645920"/>
            <a:ext cx="684360" cy="684360"/>
          </a:xfrm>
          <a:prstGeom prst="ellipse">
            <a:avLst/>
          </a:prstGeom>
          <a:solidFill>
            <a:srgbClr val="1e2a3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0" name="feature 1 icon" descr="preencoded.png"/>
          <p:cNvPicPr/>
          <p:nvPr/>
        </p:nvPicPr>
        <p:blipFill>
          <a:blip r:embed="rId1"/>
          <a:stretch/>
        </p:blipFill>
        <p:spPr>
          <a:xfrm>
            <a:off x="987480" y="1810440"/>
            <a:ext cx="355320" cy="355320"/>
          </a:xfrm>
          <a:prstGeom prst="rect">
            <a:avLst/>
          </a:prstGeom>
          <a:ln w="0">
            <a:noFill/>
          </a:ln>
        </p:spPr>
      </p:pic>
      <p:sp>
        <p:nvSpPr>
          <p:cNvPr id="91" name="feature 1 head"/>
          <p:cNvSpPr/>
          <p:nvPr/>
        </p:nvSpPr>
        <p:spPr>
          <a:xfrm>
            <a:off x="1645920" y="1645920"/>
            <a:ext cx="22845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Scalability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feature 1 body"/>
          <p:cNvSpPr/>
          <p:nvPr/>
        </p:nvSpPr>
        <p:spPr>
          <a:xfrm>
            <a:off x="822960" y="2468880"/>
            <a:ext cx="301608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Kafka partitions (key = city / station), Spark executors and HDFS DataNodes scale out horizontally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feature 2 card"/>
          <p:cNvSpPr/>
          <p:nvPr/>
        </p:nvSpPr>
        <p:spPr>
          <a:xfrm>
            <a:off x="4297680" y="1371600"/>
            <a:ext cx="3519000" cy="223884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feature 2 circle"/>
          <p:cNvSpPr/>
          <p:nvPr/>
        </p:nvSpPr>
        <p:spPr>
          <a:xfrm>
            <a:off x="4572000" y="1645920"/>
            <a:ext cx="684360" cy="684360"/>
          </a:xfrm>
          <a:prstGeom prst="ellipse">
            <a:avLst/>
          </a:prstGeom>
          <a:solidFill>
            <a:srgbClr val="1e2a3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5" name="feature 2 icon" descr="preencoded.png"/>
          <p:cNvPicPr/>
          <p:nvPr/>
        </p:nvPicPr>
        <p:blipFill>
          <a:blip r:embed="rId2"/>
          <a:stretch/>
        </p:blipFill>
        <p:spPr>
          <a:xfrm>
            <a:off x="4736520" y="1810440"/>
            <a:ext cx="355320" cy="355320"/>
          </a:xfrm>
          <a:prstGeom prst="rect">
            <a:avLst/>
          </a:prstGeom>
          <a:ln w="0">
            <a:noFill/>
          </a:ln>
        </p:spPr>
      </p:pic>
      <p:sp>
        <p:nvSpPr>
          <p:cNvPr id="96" name="feature 2 head"/>
          <p:cNvSpPr/>
          <p:nvPr/>
        </p:nvSpPr>
        <p:spPr>
          <a:xfrm>
            <a:off x="5394960" y="1645920"/>
            <a:ext cx="22845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Low latency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feature 2 body"/>
          <p:cNvSpPr/>
          <p:nvPr/>
        </p:nvSpPr>
        <p:spPr>
          <a:xfrm>
            <a:off x="4572000" y="2468880"/>
            <a:ext cx="301608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Structured Streaming micro-batches every 5–60 s → dashboard in seconds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feature 3 card"/>
          <p:cNvSpPr/>
          <p:nvPr/>
        </p:nvSpPr>
        <p:spPr>
          <a:xfrm>
            <a:off x="8046720" y="1371600"/>
            <a:ext cx="3519000" cy="223884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feature 3 circle"/>
          <p:cNvSpPr/>
          <p:nvPr/>
        </p:nvSpPr>
        <p:spPr>
          <a:xfrm>
            <a:off x="8321040" y="1645920"/>
            <a:ext cx="684360" cy="684360"/>
          </a:xfrm>
          <a:prstGeom prst="ellipse">
            <a:avLst/>
          </a:prstGeom>
          <a:solidFill>
            <a:srgbClr val="1e2a3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0" name="feature 3 icon" descr="preencoded.png"/>
          <p:cNvPicPr/>
          <p:nvPr/>
        </p:nvPicPr>
        <p:blipFill>
          <a:blip r:embed="rId3"/>
          <a:stretch/>
        </p:blipFill>
        <p:spPr>
          <a:xfrm>
            <a:off x="8485560" y="1810440"/>
            <a:ext cx="355320" cy="355320"/>
          </a:xfrm>
          <a:prstGeom prst="rect">
            <a:avLst/>
          </a:prstGeom>
          <a:ln w="0">
            <a:noFill/>
          </a:ln>
        </p:spPr>
      </p:pic>
      <p:sp>
        <p:nvSpPr>
          <p:cNvPr id="101" name="feature 3 head"/>
          <p:cNvSpPr/>
          <p:nvPr/>
        </p:nvSpPr>
        <p:spPr>
          <a:xfrm>
            <a:off x="9144000" y="1645920"/>
            <a:ext cx="22845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Fault tolerance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feature 3 body"/>
          <p:cNvSpPr/>
          <p:nvPr/>
        </p:nvSpPr>
        <p:spPr>
          <a:xfrm>
            <a:off x="8321040" y="2468880"/>
            <a:ext cx="301608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Kafka 7-day retention + Spark checkpoints → resume or replay anytime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feature 4 card"/>
          <p:cNvSpPr/>
          <p:nvPr/>
        </p:nvSpPr>
        <p:spPr>
          <a:xfrm>
            <a:off x="548640" y="3840480"/>
            <a:ext cx="3519000" cy="223884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feature 4 circle"/>
          <p:cNvSpPr/>
          <p:nvPr/>
        </p:nvSpPr>
        <p:spPr>
          <a:xfrm>
            <a:off x="822960" y="4114800"/>
            <a:ext cx="684360" cy="684360"/>
          </a:xfrm>
          <a:prstGeom prst="ellipse">
            <a:avLst/>
          </a:prstGeom>
          <a:solidFill>
            <a:srgbClr val="1e2a3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5" name="feature 4 icon" descr="preencoded.png"/>
          <p:cNvPicPr/>
          <p:nvPr/>
        </p:nvPicPr>
        <p:blipFill>
          <a:blip r:embed="rId4"/>
          <a:stretch/>
        </p:blipFill>
        <p:spPr>
          <a:xfrm>
            <a:off x="987480" y="4279320"/>
            <a:ext cx="355320" cy="355320"/>
          </a:xfrm>
          <a:prstGeom prst="rect">
            <a:avLst/>
          </a:prstGeom>
          <a:ln w="0">
            <a:noFill/>
          </a:ln>
        </p:spPr>
      </p:pic>
      <p:sp>
        <p:nvSpPr>
          <p:cNvPr id="106" name="feature 4 head"/>
          <p:cNvSpPr/>
          <p:nvPr/>
        </p:nvSpPr>
        <p:spPr>
          <a:xfrm>
            <a:off x="1645920" y="4114800"/>
            <a:ext cx="22845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Idempotent results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feature 4 body"/>
          <p:cNvSpPr/>
          <p:nvPr/>
        </p:nvSpPr>
        <p:spPr>
          <a:xfrm>
            <a:off x="822960" y="4937760"/>
            <a:ext cx="301608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Upserts on (city, event_ts) and lake de-duplication → no double counting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feature 5 card"/>
          <p:cNvSpPr/>
          <p:nvPr/>
        </p:nvSpPr>
        <p:spPr>
          <a:xfrm>
            <a:off x="4297680" y="3840480"/>
            <a:ext cx="3519000" cy="223884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feature 5 circle"/>
          <p:cNvSpPr/>
          <p:nvPr/>
        </p:nvSpPr>
        <p:spPr>
          <a:xfrm>
            <a:off x="4572000" y="4114800"/>
            <a:ext cx="684360" cy="684360"/>
          </a:xfrm>
          <a:prstGeom prst="ellipse">
            <a:avLst/>
          </a:prstGeom>
          <a:solidFill>
            <a:srgbClr val="1e2a3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0" name="feature 5 icon" descr="preencoded.png"/>
          <p:cNvPicPr/>
          <p:nvPr/>
        </p:nvPicPr>
        <p:blipFill>
          <a:blip r:embed="rId5"/>
          <a:stretch/>
        </p:blipFill>
        <p:spPr>
          <a:xfrm>
            <a:off x="4736520" y="4279320"/>
            <a:ext cx="355320" cy="355320"/>
          </a:xfrm>
          <a:prstGeom prst="rect">
            <a:avLst/>
          </a:prstGeom>
          <a:ln w="0">
            <a:noFill/>
          </a:ln>
        </p:spPr>
      </p:pic>
      <p:sp>
        <p:nvSpPr>
          <p:cNvPr id="111" name="feature 5 head"/>
          <p:cNvSpPr/>
          <p:nvPr/>
        </p:nvSpPr>
        <p:spPr>
          <a:xfrm>
            <a:off x="5394960" y="4114800"/>
            <a:ext cx="22845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Event-time correctness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feature 5 body"/>
          <p:cNvSpPr/>
          <p:nvPr/>
        </p:nvSpPr>
        <p:spPr>
          <a:xfrm>
            <a:off x="4572000" y="4937760"/>
            <a:ext cx="301608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Windows in Nepal time (UTC+5:45): daily with 3 h watermark, hourly with 2 h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feature 6 card"/>
          <p:cNvSpPr/>
          <p:nvPr/>
        </p:nvSpPr>
        <p:spPr>
          <a:xfrm>
            <a:off x="8046720" y="3840480"/>
            <a:ext cx="3519000" cy="223884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feature 6 circle"/>
          <p:cNvSpPr/>
          <p:nvPr/>
        </p:nvSpPr>
        <p:spPr>
          <a:xfrm>
            <a:off x="8321040" y="4114800"/>
            <a:ext cx="684360" cy="684360"/>
          </a:xfrm>
          <a:prstGeom prst="ellipse">
            <a:avLst/>
          </a:prstGeom>
          <a:solidFill>
            <a:srgbClr val="1e2a3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5" name="feature 6 icon" descr="preencoded.png"/>
          <p:cNvPicPr/>
          <p:nvPr/>
        </p:nvPicPr>
        <p:blipFill>
          <a:blip r:embed="rId6"/>
          <a:stretch/>
        </p:blipFill>
        <p:spPr>
          <a:xfrm>
            <a:off x="8485560" y="4279320"/>
            <a:ext cx="355320" cy="355320"/>
          </a:xfrm>
          <a:prstGeom prst="rect">
            <a:avLst/>
          </a:prstGeom>
          <a:ln w="0">
            <a:noFill/>
          </a:ln>
        </p:spPr>
      </p:pic>
      <p:sp>
        <p:nvSpPr>
          <p:cNvPr id="116" name="feature 6 head"/>
          <p:cNvSpPr/>
          <p:nvPr/>
        </p:nvSpPr>
        <p:spPr>
          <a:xfrm>
            <a:off x="9144000" y="4114800"/>
            <a:ext cx="22845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Data quality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feature 6 body"/>
          <p:cNvSpPr/>
          <p:nvPr/>
        </p:nvSpPr>
        <p:spPr>
          <a:xfrm>
            <a:off x="8321040" y="4937760"/>
            <a:ext cx="301608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Schema-on-read, null and range checks in the stream; de-duplication in batch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 type="sldNum" idx="9"/>
          </p:nvPr>
        </p:nvSpPr>
        <p:spPr>
          <a:xfrm>
            <a:off x="11155680" y="6400800"/>
            <a:ext cx="45576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772A609-F259-4694-B5A5-36A181C5E176}" type="slidenum">
              <a:rPr b="0" lang="en-US" sz="10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2800" cy="77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chemeClr val="dk1"/>
                </a:solidFill>
                <a:latin typeface="Arial"/>
                <a:ea typeface="Arial"/>
              </a:rPr>
              <a:t>Architecture: Lambda on the Hadoop / Spark ecosystem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 type="sldNum" idx="10"/>
          </p:nvPr>
        </p:nvSpPr>
        <p:spPr>
          <a:xfrm>
            <a:off x="11155680" y="6400800"/>
            <a:ext cx="45576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B0C665C-DB28-447C-99E8-8A0C72568986}" type="slidenum">
              <a:rPr b="0" lang="en-US" sz="10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21" name="architecture diagram" descr="architecture.png"/>
          <p:cNvPicPr/>
          <p:nvPr/>
        </p:nvPicPr>
        <p:blipFill>
          <a:blip r:embed="rId1"/>
          <a:stretch/>
        </p:blipFill>
        <p:spPr>
          <a:xfrm>
            <a:off x="1875600" y="1188720"/>
            <a:ext cx="8439480" cy="5074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2800" cy="77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chemeClr val="dk1"/>
                </a:solidFill>
                <a:latin typeface="Arial"/>
                <a:ea typeface="Arial"/>
              </a:rPr>
              <a:t>Why these components, and not the alternatives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23" name="component table"/>
          <p:cNvGraphicFramePr/>
          <p:nvPr/>
        </p:nvGraphicFramePr>
        <p:xfrm>
          <a:off x="548640" y="1325880"/>
          <a:ext cx="11063880" cy="4480560"/>
        </p:xfrm>
        <a:graphic>
          <a:graphicData uri="http://schemas.openxmlformats.org/drawingml/2006/table">
            <a:tbl>
              <a:tblPr/>
              <a:tblGrid>
                <a:gridCol w="1920240"/>
                <a:gridCol w="2651760"/>
                <a:gridCol w="2560320"/>
                <a:gridCol w="3931920"/>
              </a:tblGrid>
              <a:tr h="640080">
                <a:tc>
                  <a:txBody>
                    <a:bodyPr lIns="73080" rIns="730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Need</a:t>
                      </a:r>
                      <a:endParaRPr b="0" lang="en-US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7308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Chosen</a:t>
                      </a:r>
                      <a:endParaRPr b="0" lang="en-US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7308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Alternatives</a:t>
                      </a:r>
                      <a:endParaRPr b="0" lang="en-US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7308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4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Why</a:t>
                      </a:r>
                      <a:endParaRPr b="0" lang="en-US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73080" marR="7308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solidFill>
                      <a:schemeClr val="dk1"/>
                    </a:solidFill>
                  </a:tcPr>
                </a:tc>
              </a:tr>
              <a:tr h="640080">
                <a:tc>
                  <a:txBody>
                    <a:bodyPr lIns="73080" rIns="730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Event ingestion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73080" marR="7308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Apache Kafka (KRaft)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73080" marR="7308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RabbitMQ, Pulsar, Kinesis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73080" marR="7308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Durable, partitioned, replayable log; many independent consumers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73080" marR="7308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</a:tr>
              <a:tr h="640080">
                <a:tc>
                  <a:txBody>
                    <a:bodyPr lIns="73080" rIns="730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File ingestion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73080" marR="7308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Apache Flume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73080" marR="7308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NiFi, Logstash, Kafka Connect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73080" marR="7308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Spool dir → Kafka + HDFS fan-out by config; durable file channel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73080" marR="7308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</a:tr>
              <a:tr h="640080">
                <a:tc>
                  <a:txBody>
                    <a:bodyPr lIns="73080" rIns="730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Processing + ML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73080" marR="7308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Spark Streaming, SQL, MLlib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73080" marR="7308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Flink, Storm, scikit-learn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73080" marR="7308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One engine for stream, batch and ML; event time, checkpoints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73080" marR="7308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</a:tr>
              <a:tr h="640080">
                <a:tc>
                  <a:txBody>
                    <a:bodyPr lIns="73080" rIns="730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Classic batch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73080" marR="7308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MapReduce on YARN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73080" marR="7308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Spark only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73080" marR="7308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The Hadoop model on a simple 25-year aggregation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73080" marR="7308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</a:tr>
              <a:tr h="640080">
                <a:tc>
                  <a:txBody>
                    <a:bodyPr lIns="73080" rIns="730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Lake + SQL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73080" marR="7308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HDFS · Parquet · Hive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73080" marR="7308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S3 / MinIO, ORC, Trino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73080" marR="7308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Replicated, columnar, partition pruning; SQL on files in place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73080" marR="7308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</a:tr>
              <a:tr h="640080">
                <a:tc>
                  <a:txBody>
                    <a:bodyPr lIns="73080" rIns="730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Serving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73080" marR="7308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Cassandra + MongoDB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73080" marR="7308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InfluxDB, HBase, PostgreSQL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73080" marR="7308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Time-series writes by (station, day); flexible docs + geo queries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73080" marR="73080">
                    <a:lnL w="9360">
                      <a:solidFill>
                        <a:srgbClr val="d5dce3"/>
                      </a:solidFill>
                      <a:prstDash val="solid"/>
                    </a:lnL>
                    <a:lnR w="9360">
                      <a:solidFill>
                        <a:srgbClr val="d5dce3"/>
                      </a:solidFill>
                      <a:prstDash val="solid"/>
                    </a:lnR>
                    <a:lnT w="9360">
                      <a:solidFill>
                        <a:srgbClr val="d5dce3"/>
                      </a:solidFill>
                      <a:prstDash val="solid"/>
                    </a:lnT>
                    <a:lnB w="9360">
                      <a:solidFill>
                        <a:srgbClr val="d5dce3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11155680" y="6400800"/>
            <a:ext cx="45576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A9794DA-01AF-4463-A12C-5C0A206229F4}" type="slidenum">
              <a:rPr b="0" lang="en-US" sz="10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2800" cy="77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chemeClr val="dk1"/>
                </a:solidFill>
                <a:latin typeface="Arial"/>
                <a:ea typeface="Arial"/>
              </a:rPr>
              <a:t>Storage: each tier matches an access pattern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ier 1 chip"/>
          <p:cNvSpPr/>
          <p:nvPr/>
        </p:nvSpPr>
        <p:spPr>
          <a:xfrm>
            <a:off x="548640" y="1261800"/>
            <a:ext cx="2650320" cy="657720"/>
          </a:xfrm>
          <a:prstGeom prst="roundRect">
            <a:avLst>
              <a:gd name="adj" fmla="val 11364"/>
            </a:avLst>
          </a:prstGeom>
          <a:solidFill>
            <a:srgbClr val="c039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tier 1 name"/>
          <p:cNvSpPr/>
          <p:nvPr/>
        </p:nvSpPr>
        <p:spPr>
          <a:xfrm>
            <a:off x="548640" y="1261800"/>
            <a:ext cx="26503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Kafka log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tier 1 content"/>
          <p:cNvSpPr/>
          <p:nvPr/>
        </p:nvSpPr>
        <p:spPr>
          <a:xfrm>
            <a:off x="3474720" y="1261800"/>
            <a:ext cx="420480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5 topics: air · ground · fires · news · alerts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tier 1 access"/>
          <p:cNvSpPr/>
          <p:nvPr/>
        </p:nvSpPr>
        <p:spPr>
          <a:xfrm>
            <a:off x="7863840" y="1261800"/>
            <a:ext cx="374760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chemeClr val="dk2"/>
                </a:solidFill>
                <a:latin typeface="Calibri"/>
              </a:rPr>
              <a:t>append-only, 3 partitions, 7-day replay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ier 2 chip"/>
          <p:cNvSpPr/>
          <p:nvPr/>
        </p:nvSpPr>
        <p:spPr>
          <a:xfrm>
            <a:off x="548640" y="2002680"/>
            <a:ext cx="2650320" cy="657720"/>
          </a:xfrm>
          <a:prstGeom prst="roundRect">
            <a:avLst>
              <a:gd name="adj" fmla="val 11364"/>
            </a:avLst>
          </a:prstGeom>
          <a:solidFill>
            <a:srgbClr val="4a5a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tier 2 name"/>
          <p:cNvSpPr/>
          <p:nvPr/>
        </p:nvSpPr>
        <p:spPr>
          <a:xfrm>
            <a:off x="548640" y="2002680"/>
            <a:ext cx="26503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HDFS raw zone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ier 2 content"/>
          <p:cNvSpPr/>
          <p:nvPr/>
        </p:nvSpPr>
        <p:spPr>
          <a:xfrm>
            <a:off x="3474720" y="2002680"/>
            <a:ext cx="420480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Flume FIRMS CSV · NASA POWER JSON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tier 2 access"/>
          <p:cNvSpPr/>
          <p:nvPr/>
        </p:nvSpPr>
        <p:spPr>
          <a:xfrm>
            <a:off x="7863840" y="2002680"/>
            <a:ext cx="374760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chemeClr val="dk2"/>
                </a:solidFill>
                <a:latin typeface="Calibri"/>
              </a:rPr>
              <a:t>immutable, as received (audit, reprocessing)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ier 3 chip"/>
          <p:cNvSpPr/>
          <p:nvPr/>
        </p:nvSpPr>
        <p:spPr>
          <a:xfrm>
            <a:off x="548640" y="2743200"/>
            <a:ext cx="2650320" cy="657720"/>
          </a:xfrm>
          <a:prstGeom prst="roundRect">
            <a:avLst>
              <a:gd name="adj" fmla="val 11364"/>
            </a:avLst>
          </a:prstGeom>
          <a:solidFill>
            <a:srgbClr val="5e8c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ier 3 name"/>
          <p:cNvSpPr/>
          <p:nvPr/>
        </p:nvSpPr>
        <p:spPr>
          <a:xfrm>
            <a:off x="548640" y="2743200"/>
            <a:ext cx="26503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HDFS lake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ier 3 content"/>
          <p:cNvSpPr/>
          <p:nvPr/>
        </p:nvSpPr>
        <p:spPr>
          <a:xfrm>
            <a:off x="3474720" y="2743200"/>
            <a:ext cx="420480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Parquet: air_quality/city/date · ground/network/date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ier 3 access"/>
          <p:cNvSpPr/>
          <p:nvPr/>
        </p:nvSpPr>
        <p:spPr>
          <a:xfrm>
            <a:off x="7863840" y="2743200"/>
            <a:ext cx="374760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chemeClr val="dk2"/>
                </a:solidFill>
                <a:latin typeface="Calibri"/>
              </a:rPr>
              <a:t>columnar Spark scans; Hive external tables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ier 4 chip"/>
          <p:cNvSpPr/>
          <p:nvPr/>
        </p:nvSpPr>
        <p:spPr>
          <a:xfrm>
            <a:off x="548640" y="3483720"/>
            <a:ext cx="2650320" cy="657720"/>
          </a:xfrm>
          <a:prstGeom prst="roundRect">
            <a:avLst>
              <a:gd name="adj" fmla="val 11364"/>
            </a:avLst>
          </a:prstGeom>
          <a:solidFill>
            <a:srgbClr val="5e8c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ier 4 name"/>
          <p:cNvSpPr/>
          <p:nvPr/>
        </p:nvSpPr>
        <p:spPr>
          <a:xfrm>
            <a:off x="548640" y="3483720"/>
            <a:ext cx="26503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Curated zone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ier 4 content"/>
          <p:cNvSpPr/>
          <p:nvPr/>
        </p:nvSpPr>
        <p:spPr>
          <a:xfrm>
            <a:off x="3474720" y="3483720"/>
            <a:ext cx="420480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monthly · daily · exceedance · MapReduce AOD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ier 4 access"/>
          <p:cNvSpPr/>
          <p:nvPr/>
        </p:nvSpPr>
        <p:spPr>
          <a:xfrm>
            <a:off x="7863840" y="3483720"/>
            <a:ext cx="374760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chemeClr val="dk2"/>
                </a:solidFill>
                <a:latin typeface="Calibri"/>
              </a:rPr>
              <a:t>analytics-ready tables (Hive SQL)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ier 5 chip"/>
          <p:cNvSpPr/>
          <p:nvPr/>
        </p:nvSpPr>
        <p:spPr>
          <a:xfrm>
            <a:off x="548640" y="4224600"/>
            <a:ext cx="2650320" cy="657720"/>
          </a:xfrm>
          <a:prstGeom prst="roundRect">
            <a:avLst>
              <a:gd name="adj" fmla="val 11364"/>
            </a:avLst>
          </a:prstGeom>
          <a:solidFill>
            <a:srgbClr val="2e86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ier 5 name"/>
          <p:cNvSpPr/>
          <p:nvPr/>
        </p:nvSpPr>
        <p:spPr>
          <a:xfrm>
            <a:off x="548640" y="4224600"/>
            <a:ext cx="26503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Cassandra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ier 5 content"/>
          <p:cNvSpPr/>
          <p:nvPr/>
        </p:nvSpPr>
        <p:spPr>
          <a:xfrm>
            <a:off x="3474720" y="4224600"/>
            <a:ext cx="420480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ground_readings (station, day) · ground_hourly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ier 5 access"/>
          <p:cNvSpPr/>
          <p:nvPr/>
        </p:nvSpPr>
        <p:spPr>
          <a:xfrm>
            <a:off x="7863840" y="4224600"/>
            <a:ext cx="374760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chemeClr val="dk2"/>
                </a:solidFill>
                <a:latin typeface="Calibri"/>
              </a:rPr>
              <a:t>high-rate time-series writes, 1-partition reads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sldNum" idx="12"/>
          </p:nvPr>
        </p:nvSpPr>
        <p:spPr>
          <a:xfrm>
            <a:off x="11155680" y="6400800"/>
            <a:ext cx="45576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998C60F-38BB-4785-8BA6-8B3C0F52AADA}" type="slidenum">
              <a:rPr b="0" lang="en-US" sz="10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tier 6 chip"/>
          <p:cNvSpPr/>
          <p:nvPr/>
        </p:nvSpPr>
        <p:spPr>
          <a:xfrm>
            <a:off x="548640" y="4965120"/>
            <a:ext cx="2650320" cy="657720"/>
          </a:xfrm>
          <a:prstGeom prst="roundRect">
            <a:avLst>
              <a:gd name="adj" fmla="val 11364"/>
            </a:avLst>
          </a:prstGeom>
          <a:solidFill>
            <a:srgbClr val="2e86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tier 6 name"/>
          <p:cNvSpPr/>
          <p:nvPr/>
        </p:nvSpPr>
        <p:spPr>
          <a:xfrm>
            <a:off x="548640" y="4965120"/>
            <a:ext cx="26503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MongoDB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ier 6 content"/>
          <p:cNvSpPr/>
          <p:nvPr/>
        </p:nvSpPr>
        <p:spPr>
          <a:xfrm>
            <a:off x="3474720" y="4965120"/>
            <a:ext cx="420480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chemeClr val="dk1"/>
                </a:solidFill>
                <a:latin typeface="Calibri"/>
              </a:rPr>
              <a:t>latest · alerts · forecasts · fires (2dsphere) …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ier 6 access"/>
          <p:cNvSpPr/>
          <p:nvPr/>
        </p:nvSpPr>
        <p:spPr>
          <a:xfrm>
            <a:off x="7863840" y="4965120"/>
            <a:ext cx="374760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chemeClr val="dk2"/>
                </a:solidFill>
                <a:latin typeface="Calibri"/>
              </a:rPr>
              <a:t>indexed ms queries + geo for the dashboard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2800" cy="77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chemeClr val="dk1"/>
                </a:solidFill>
                <a:latin typeface="Arial"/>
                <a:ea typeface="Arial"/>
              </a:rPr>
              <a:t>Spark Structured Streaming: 4 topics, 8 queries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tep 1 card"/>
          <p:cNvSpPr/>
          <p:nvPr/>
        </p:nvSpPr>
        <p:spPr>
          <a:xfrm>
            <a:off x="548640" y="1463040"/>
            <a:ext cx="2238840" cy="1735920"/>
          </a:xfrm>
          <a:prstGeom prst="roundRect">
            <a:avLst>
              <a:gd name="adj" fmla="val 6316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step 1 head"/>
          <p:cNvSpPr/>
          <p:nvPr/>
        </p:nvSpPr>
        <p:spPr>
          <a:xfrm>
            <a:off x="731520" y="1600200"/>
            <a:ext cx="18730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accent1"/>
                </a:solidFill>
                <a:latin typeface="Calibri"/>
              </a:rPr>
              <a:t>Kafka source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tep 1 body"/>
          <p:cNvSpPr/>
          <p:nvPr/>
        </p:nvSpPr>
        <p:spPr>
          <a:xfrm>
            <a:off x="731520" y="2103120"/>
            <a:ext cx="187308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</a:rPr>
              <a:t>subscribe air, ground, fires, news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</a:rPr>
              <a:t>rate-limited per query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tep 1 arrow"/>
          <p:cNvSpPr/>
          <p:nvPr/>
        </p:nvSpPr>
        <p:spPr>
          <a:xfrm>
            <a:off x="2834640" y="2194560"/>
            <a:ext cx="181440" cy="272880"/>
          </a:xfrm>
          <a:prstGeom prst="rtTriangl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step 2 card"/>
          <p:cNvSpPr/>
          <p:nvPr/>
        </p:nvSpPr>
        <p:spPr>
          <a:xfrm>
            <a:off x="3063240" y="1463040"/>
            <a:ext cx="2238840" cy="1735920"/>
          </a:xfrm>
          <a:prstGeom prst="roundRect">
            <a:avLst>
              <a:gd name="adj" fmla="val 6316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step 2 head"/>
          <p:cNvSpPr/>
          <p:nvPr/>
        </p:nvSpPr>
        <p:spPr>
          <a:xfrm>
            <a:off x="3246120" y="1600200"/>
            <a:ext cx="18730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accent1"/>
                </a:solidFill>
                <a:latin typeface="Calibri"/>
              </a:rPr>
              <a:t>Parse + validate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step 2 body"/>
          <p:cNvSpPr/>
          <p:nvPr/>
        </p:nvSpPr>
        <p:spPr>
          <a:xfrm>
            <a:off x="3246120" y="2103120"/>
            <a:ext cx="187308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</a:rPr>
              <a:t>from_json with schema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</a:rPr>
              <a:t>range &amp; null checks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step 2 arrow"/>
          <p:cNvSpPr/>
          <p:nvPr/>
        </p:nvSpPr>
        <p:spPr>
          <a:xfrm>
            <a:off x="5349240" y="2194560"/>
            <a:ext cx="181440" cy="272880"/>
          </a:xfrm>
          <a:prstGeom prst="rtTriangl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step 3 card"/>
          <p:cNvSpPr/>
          <p:nvPr/>
        </p:nvSpPr>
        <p:spPr>
          <a:xfrm>
            <a:off x="5577840" y="1463040"/>
            <a:ext cx="2238840" cy="1735920"/>
          </a:xfrm>
          <a:prstGeom prst="roundRect">
            <a:avLst>
              <a:gd name="adj" fmla="val 6316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step 3 head"/>
          <p:cNvSpPr/>
          <p:nvPr/>
        </p:nvSpPr>
        <p:spPr>
          <a:xfrm>
            <a:off x="5760720" y="1600200"/>
            <a:ext cx="18730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accent1"/>
                </a:solidFill>
                <a:latin typeface="Calibri"/>
              </a:rPr>
              <a:t>Enrich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step 3 body"/>
          <p:cNvSpPr/>
          <p:nvPr/>
        </p:nvSpPr>
        <p:spPr>
          <a:xfrm>
            <a:off x="5760720" y="2103120"/>
            <a:ext cx="187308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</a:rPr>
              <a:t>PM2.5 → AQI + category (native Spark)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</a:rPr>
              <a:t>news themes, fire → city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query 1 card"/>
          <p:cNvSpPr/>
          <p:nvPr/>
        </p:nvSpPr>
        <p:spPr>
          <a:xfrm>
            <a:off x="8183880" y="1463040"/>
            <a:ext cx="3427560" cy="1415880"/>
          </a:xfrm>
          <a:prstGeom prst="roundRect">
            <a:avLst>
              <a:gd name="adj" fmla="val 6452"/>
            </a:avLst>
          </a:prstGeom>
          <a:solidFill>
            <a:srgbClr val="5e8c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query 1 head"/>
          <p:cNvSpPr/>
          <p:nvPr/>
        </p:nvSpPr>
        <p:spPr>
          <a:xfrm>
            <a:off x="8366760" y="1572840"/>
            <a:ext cx="31075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</a:rPr>
              <a:t>Air · 3 queries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query 1 body"/>
          <p:cNvSpPr/>
          <p:nvPr/>
        </p:nvSpPr>
        <p:spPr>
          <a:xfrm>
            <a:off x="8366760" y="1965960"/>
            <a:ext cx="310752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</a:rPr>
              <a:t>lake_sink → HDFS Parquet · serving_sink → MongoDB + alerts (AQI ≥ 151 → Kafka) · daily window, 3 h watermark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query 2 card"/>
          <p:cNvSpPr/>
          <p:nvPr/>
        </p:nvSpPr>
        <p:spPr>
          <a:xfrm>
            <a:off x="8183880" y="3063240"/>
            <a:ext cx="3427560" cy="1415880"/>
          </a:xfrm>
          <a:prstGeom prst="roundRect">
            <a:avLst>
              <a:gd name="adj" fmla="val 6452"/>
            </a:avLst>
          </a:prstGeom>
          <a:solidFill>
            <a:srgbClr val="2e86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query 2 head"/>
          <p:cNvSpPr/>
          <p:nvPr/>
        </p:nvSpPr>
        <p:spPr>
          <a:xfrm>
            <a:off x="8366760" y="3173040"/>
            <a:ext cx="31075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</a:rPr>
              <a:t>Ground · 3 queries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query 2 body"/>
          <p:cNvSpPr/>
          <p:nvPr/>
        </p:nvSpPr>
        <p:spPr>
          <a:xfrm>
            <a:off x="8366760" y="3566160"/>
            <a:ext cx="310752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</a:rPr>
              <a:t>ground_lake → HDFS · ground_serving → Cassandra + MongoDB · hourly window, 2 h watermark → Cassandra + alerts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query 3 card"/>
          <p:cNvSpPr/>
          <p:nvPr/>
        </p:nvSpPr>
        <p:spPr>
          <a:xfrm>
            <a:off x="8183880" y="4663440"/>
            <a:ext cx="3427560" cy="1415880"/>
          </a:xfrm>
          <a:prstGeom prst="roundRect">
            <a:avLst>
              <a:gd name="adj" fmla="val 6452"/>
            </a:avLst>
          </a:prstGeom>
          <a:solidFill>
            <a:srgbClr val="8e6c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query 3 head"/>
          <p:cNvSpPr/>
          <p:nvPr/>
        </p:nvSpPr>
        <p:spPr>
          <a:xfrm>
            <a:off x="8366760" y="4773240"/>
            <a:ext cx="31075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</a:rPr>
              <a:t>Fires + news · 2 queries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query 3 body"/>
          <p:cNvSpPr/>
          <p:nvPr/>
        </p:nvSpPr>
        <p:spPr>
          <a:xfrm>
            <a:off x="8366760" y="5166360"/>
            <a:ext cx="310752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</a:rPr>
              <a:t>fires → MongoDB with 2dsphere geo index · news → theme tagging → MongoDB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fan-out line"/>
          <p:cNvSpPr/>
          <p:nvPr/>
        </p:nvSpPr>
        <p:spPr>
          <a:xfrm>
            <a:off x="7360920" y="2331720"/>
            <a:ext cx="777240" cy="360"/>
          </a:xfrm>
          <a:prstGeom prst="line">
            <a:avLst/>
          </a:prstGeom>
          <a:ln w="25400">
            <a:solidFill>
              <a:srgbClr val="e07a2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stream stats"/>
          <p:cNvSpPr/>
          <p:nvPr/>
        </p:nvSpPr>
        <p:spPr>
          <a:xfrm>
            <a:off x="548640" y="3611880"/>
            <a:ext cx="6948000" cy="246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chemeClr val="accent1"/>
                </a:solidFill>
                <a:latin typeface="Calibri"/>
              </a:rPr>
              <a:t>860,517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messages from 4 Kafka topics processed by 8 streaming queries (first start)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chemeClr val="accent2"/>
                </a:solidFill>
                <a:latin typeface="Calibri"/>
              </a:rPr>
              <a:t>40,373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alert events published to the nepal.air.alerts topic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 type="sldNum" idx="13"/>
          </p:nvPr>
        </p:nvSpPr>
        <p:spPr>
          <a:xfrm>
            <a:off x="11155680" y="6400800"/>
            <a:ext cx="45576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B7CD463-88CA-454C-B69F-A4F85F2E4B26}" type="slidenum">
              <a:rPr b="0" lang="en-US" sz="10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2800" cy="77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chemeClr val="dk1"/>
                </a:solidFill>
                <a:latin typeface="Arial"/>
                <a:ea typeface="Arial"/>
              </a:rPr>
              <a:t>Pollution is seasonal: dry winter and spring are worst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6" name="seasonality heatmap" descr="/home/suntoss/projects/msdsa/Implementation Task/docs/figures/seasonality.png"/>
          <p:cNvPicPr/>
          <p:nvPr/>
        </p:nvPicPr>
        <p:blipFill>
          <a:blip r:embed="rId1"/>
          <a:stretch/>
        </p:blipFill>
        <p:spPr>
          <a:xfrm>
            <a:off x="548640" y="1234440"/>
            <a:ext cx="7405200" cy="3701880"/>
          </a:xfrm>
          <a:prstGeom prst="rect">
            <a:avLst/>
          </a:prstGeom>
          <a:ln w="0">
            <a:noFill/>
          </a:ln>
        </p:spPr>
      </p:pic>
      <p:sp>
        <p:nvSpPr>
          <p:cNvPr id="177" name="seasonality takeaways"/>
          <p:cNvSpPr/>
          <p:nvPr/>
        </p:nvSpPr>
        <p:spPr>
          <a:xfrm>
            <a:off x="8229600" y="1371600"/>
            <a:ext cx="3381840" cy="47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chemeClr val="accent2"/>
                </a:solidFill>
                <a:latin typeface="Calibri"/>
              </a:rPr>
              <a:t>Dec – Apr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Peak PM2.5: inversions, crop and forest fires, brick-kiln season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chemeClr val="accent4"/>
                </a:solidFill>
                <a:latin typeface="Calibri"/>
              </a:rPr>
              <a:t>Jun – Sep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Monsoon rain washes particles out (wet deposition)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chemeClr val="dk1"/>
                </a:solidFill>
                <a:latin typeface="Calibri"/>
              </a:rPr>
              <a:t>Terai &gt; Valley &gt; Hills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Indo-Gangetic haze makes Biratnagar, Janakpur and Birgunj the worst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sldNum" idx="14"/>
          </p:nvPr>
        </p:nvSpPr>
        <p:spPr>
          <a:xfrm>
            <a:off x="11155680" y="6400800"/>
            <a:ext cx="45576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C0227EF-4ED5-458C-81EB-10FDA94E0661}" type="slidenum">
              <a:rPr b="0" lang="en-US" sz="10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2800" cy="77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chemeClr val="dk1"/>
                </a:solidFill>
                <a:latin typeface="Arial"/>
                <a:ea typeface="Arial"/>
              </a:rPr>
              <a:t>Weather explains the episodes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0" name="diurnal chart" descr="/home/suntoss/projects/msdsa/Implementation Task/docs/figures/diurnal.png"/>
          <p:cNvPicPr/>
          <p:nvPr/>
        </p:nvPicPr>
        <p:blipFill>
          <a:blip r:embed="rId1"/>
          <a:stretch/>
        </p:blipFill>
        <p:spPr>
          <a:xfrm>
            <a:off x="548640" y="1280160"/>
            <a:ext cx="5484960" cy="2741760"/>
          </a:xfrm>
          <a:prstGeom prst="rect">
            <a:avLst/>
          </a:prstGeom>
          <a:ln w="0">
            <a:noFill/>
          </a:ln>
        </p:spPr>
      </p:pic>
      <p:pic>
        <p:nvPicPr>
          <p:cNvPr id="181" name="correlation chart" descr="/home/suntoss/projects/msdsa/Implementation Task/docs/figures/weather_corr.png"/>
          <p:cNvPicPr/>
          <p:nvPr/>
        </p:nvPicPr>
        <p:blipFill>
          <a:blip r:embed="rId2"/>
          <a:stretch/>
        </p:blipFill>
        <p:spPr>
          <a:xfrm>
            <a:off x="6172200" y="1280160"/>
            <a:ext cx="5484960" cy="2741760"/>
          </a:xfrm>
          <a:prstGeom prst="rect">
            <a:avLst/>
          </a:prstGeom>
          <a:ln w="0">
            <a:noFill/>
          </a:ln>
        </p:spPr>
      </p:pic>
      <p:sp>
        <p:nvSpPr>
          <p:cNvPr id="182" name="drivers takeaway"/>
          <p:cNvSpPr/>
          <p:nvPr/>
        </p:nvSpPr>
        <p:spPr>
          <a:xfrm>
            <a:off x="548640" y="4343400"/>
            <a:ext cx="11062800" cy="173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Night-time peak, midday dip: PM2.5 builds up after sunset when the boundary layer collapses and clears when the sun deepens the mixing layer.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Boundary-layer height r = -0.388 (Kathmandu Valley): this confirms the inversion mechanism, so weather forecasts can predict pollution.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 type="sldNum" idx="15"/>
          </p:nvPr>
        </p:nvSpPr>
        <p:spPr>
          <a:xfrm>
            <a:off x="11155680" y="6400800"/>
            <a:ext cx="45576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8925000-5A10-4D06-837D-DED80D832518}" type="slidenum">
              <a:rPr b="0" lang="en-US" sz="10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2800" cy="77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chemeClr val="dk1"/>
                </a:solidFill>
                <a:latin typeface="Arial"/>
                <a:ea typeface="Arial"/>
              </a:rPr>
              <a:t>6-hour early warning with Spark MLlib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ml stat 1"/>
          <p:cNvSpPr/>
          <p:nvPr/>
        </p:nvSpPr>
        <p:spPr>
          <a:xfrm>
            <a:off x="548640" y="1280160"/>
            <a:ext cx="292464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800" spc="-1" strike="noStrike">
                <a:solidFill>
                  <a:schemeClr val="accent4"/>
                </a:solidFill>
                <a:latin typeface="Calibri"/>
              </a:rPr>
              <a:t>40%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ml stat 1 label"/>
          <p:cNvSpPr/>
          <p:nvPr/>
        </p:nvSpPr>
        <p:spPr>
          <a:xfrm>
            <a:off x="548640" y="2057400"/>
            <a:ext cx="292464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lower RMSE than the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persistence baseline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ml stat 2"/>
          <p:cNvSpPr/>
          <p:nvPr/>
        </p:nvSpPr>
        <p:spPr>
          <a:xfrm>
            <a:off x="548640" y="2880360"/>
            <a:ext cx="292464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800" spc="-1" strike="noStrike">
                <a:solidFill>
                  <a:schemeClr val="accent3"/>
                </a:solidFill>
                <a:latin typeface="Calibri"/>
              </a:rPr>
              <a:t>0.67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ml stat 2 label"/>
          <p:cNvSpPr/>
          <p:nvPr/>
        </p:nvSpPr>
        <p:spPr>
          <a:xfrm>
            <a:off x="548640" y="3657600"/>
            <a:ext cx="292464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R² on unseen data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(baseline 0.106)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ml stat 3"/>
          <p:cNvSpPr/>
          <p:nvPr/>
        </p:nvSpPr>
        <p:spPr>
          <a:xfrm>
            <a:off x="548640" y="4480560"/>
            <a:ext cx="292464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800" spc="-1" strike="noStrike">
                <a:solidFill>
                  <a:schemeClr val="accent1"/>
                </a:solidFill>
                <a:latin typeface="Calibri"/>
              </a:rPr>
              <a:t>10.43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ml stat 3 label"/>
          <p:cNvSpPr/>
          <p:nvPr/>
        </p:nvSpPr>
        <p:spPr>
          <a:xfrm>
            <a:off x="548640" y="5257800"/>
            <a:ext cx="292464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RMSE µg/m³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(baseline 17.25)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91" name="forecast chart"/>
          <p:cNvGraphicFramePr/>
          <p:nvPr/>
        </p:nvGraphicFramePr>
        <p:xfrm>
          <a:off x="3749040" y="1234440"/>
          <a:ext cx="7862400" cy="411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92" name="model caption"/>
          <p:cNvSpPr/>
          <p:nvPr/>
        </p:nvSpPr>
        <p:spPr>
          <a:xfrm>
            <a:off x="3749040" y="5486400"/>
            <a:ext cx="7862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chemeClr val="dk2"/>
                </a:solidFill>
                <a:latin typeface="Calibri"/>
              </a:rPr>
              <a:t>GBTRegressor · 105,000 train / 26,265 test rows · time-based split · lags 1/3/6/24 h, 24 h mean, weather, hour, month, city. RandomForest calibration vs ground stations: RMSE 19.85 → 10.33 (3-fold CV).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 type="sldNum" idx="16"/>
          </p:nvPr>
        </p:nvSpPr>
        <p:spPr>
          <a:xfrm>
            <a:off x="11155680" y="6400800"/>
            <a:ext cx="45576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6F60253-7C0D-48E3-A2FA-E6882D03A86A}" type="slidenum">
              <a:rPr b="0" lang="en-US" sz="10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2800" cy="77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chemeClr val="dk1"/>
                </a:solidFill>
                <a:latin typeface="Arial"/>
                <a:ea typeface="Arial"/>
              </a:rPr>
              <a:t>Live demo: the NepAirWatch dashboard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demo steps"/>
          <p:cNvSpPr/>
          <p:nvPr/>
        </p:nvSpPr>
        <p:spPr>
          <a:xfrm>
            <a:off x="8183880" y="1280160"/>
            <a:ext cx="3427560" cy="45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Demo flow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4a5a6a"/>
              </a:buClr>
              <a:buFont typeface="Arial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docker compose ps: ~20 services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4a5a6a"/>
              </a:buClr>
              <a:buFont typeface="Arial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Kafka-UI topics · Flume → HDFS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4a5a6a"/>
              </a:buClr>
              <a:buFont typeface="Arial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Replay → Live monitor + alerts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4a5a6a"/>
              </a:buClr>
              <a:buFont typeface="Arial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Ground stations: Cassandra, calibration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4a5a6a"/>
              </a:buClr>
              <a:buFont typeface="Arial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Early warning: forecast + actions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4a5a6a"/>
              </a:buClr>
              <a:buFont typeface="Arial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Fires $geoWithin · 25-yr aerosols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4a5a6a"/>
              </a:buClr>
              <a:buFont typeface="Arial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YARN MapReduce · Hive SQL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4a5a6a"/>
              </a:buClr>
              <a:buFont typeface="Arial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Pipeline health: all components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 type="sldNum" idx="17"/>
          </p:nvPr>
        </p:nvSpPr>
        <p:spPr>
          <a:xfrm>
            <a:off x="11155680" y="6400800"/>
            <a:ext cx="45576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016968B-484D-4E63-9B2E-A67C28D25A69}" type="slidenum">
              <a:rPr b="0" lang="en-US" sz="10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97" name="dashboard screenshot" descr="overview_crop.png"/>
          <p:cNvPicPr/>
          <p:nvPr/>
        </p:nvPicPr>
        <p:blipFill>
          <a:blip r:embed="rId1"/>
          <a:stretch/>
        </p:blipFill>
        <p:spPr>
          <a:xfrm>
            <a:off x="548640" y="1283760"/>
            <a:ext cx="7314480" cy="4472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2800" cy="77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chemeClr val="dk1"/>
                </a:solidFill>
                <a:latin typeface="Arial"/>
                <a:ea typeface="Arial"/>
              </a:rPr>
              <a:t>Limitations and next steps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next 1 circle"/>
          <p:cNvSpPr/>
          <p:nvPr/>
        </p:nvSpPr>
        <p:spPr>
          <a:xfrm>
            <a:off x="548640" y="1371600"/>
            <a:ext cx="775800" cy="775800"/>
          </a:xfrm>
          <a:prstGeom prst="ellipse">
            <a:avLst/>
          </a:prstGeom>
          <a:solidFill>
            <a:srgbClr val="2e86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00" name="next 1 icon" descr="preencoded.png"/>
          <p:cNvPicPr/>
          <p:nvPr/>
        </p:nvPicPr>
        <p:blipFill>
          <a:blip r:embed="rId1"/>
          <a:stretch/>
        </p:blipFill>
        <p:spPr>
          <a:xfrm>
            <a:off x="735120" y="1558080"/>
            <a:ext cx="402840" cy="402840"/>
          </a:xfrm>
          <a:prstGeom prst="rect">
            <a:avLst/>
          </a:prstGeom>
          <a:ln w="0">
            <a:noFill/>
          </a:ln>
        </p:spPr>
      </p:pic>
      <p:sp>
        <p:nvSpPr>
          <p:cNvPr id="201" name="next 1 head"/>
          <p:cNvSpPr/>
          <p:nvPr/>
        </p:nvSpPr>
        <p:spPr>
          <a:xfrm>
            <a:off x="1600200" y="1325880"/>
            <a:ext cx="310752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Longer measured history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next 1 body"/>
          <p:cNvSpPr/>
          <p:nvPr/>
        </p:nvSpPr>
        <p:spPr>
          <a:xfrm>
            <a:off x="4754880" y="1325880"/>
            <a:ext cx="685656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The DoEnv API keeps only ~3 weeks. Our HDFS archive grows ~45k readings a day, so the forecaster can be retrained on measured data; add OpenAQ history.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next 2 circle"/>
          <p:cNvSpPr/>
          <p:nvPr/>
        </p:nvSpPr>
        <p:spPr>
          <a:xfrm>
            <a:off x="548640" y="2578680"/>
            <a:ext cx="775800" cy="775800"/>
          </a:xfrm>
          <a:prstGeom prst="ellipse">
            <a:avLst/>
          </a:prstGeom>
          <a:solidFill>
            <a:srgbClr val="2e86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04" name="next 2 icon" descr="preencoded.png"/>
          <p:cNvPicPr/>
          <p:nvPr/>
        </p:nvPicPr>
        <p:blipFill>
          <a:blip r:embed="rId2"/>
          <a:stretch/>
        </p:blipFill>
        <p:spPr>
          <a:xfrm>
            <a:off x="735120" y="2765160"/>
            <a:ext cx="402840" cy="402840"/>
          </a:xfrm>
          <a:prstGeom prst="rect">
            <a:avLst/>
          </a:prstGeom>
          <a:ln w="0">
            <a:noFill/>
          </a:ln>
        </p:spPr>
      </p:pic>
      <p:sp>
        <p:nvSpPr>
          <p:cNvPr id="205" name="next 2 head"/>
          <p:cNvSpPr/>
          <p:nvPr/>
        </p:nvSpPr>
        <p:spPr>
          <a:xfrm>
            <a:off x="1600200" y="2532960"/>
            <a:ext cx="310752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Scale out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next 2 body"/>
          <p:cNvSpPr/>
          <p:nvPr/>
        </p:nvSpPr>
        <p:spPr>
          <a:xfrm>
            <a:off x="4754880" y="2532960"/>
            <a:ext cx="685656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3-broker Kafka (RF 3), Spark on YARN or Kubernetes, lake on HDFS or S3, Parquet compaction or Delta Lake.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next 3 circle"/>
          <p:cNvSpPr/>
          <p:nvPr/>
        </p:nvSpPr>
        <p:spPr>
          <a:xfrm>
            <a:off x="548640" y="3785760"/>
            <a:ext cx="775800" cy="775800"/>
          </a:xfrm>
          <a:prstGeom prst="ellipse">
            <a:avLst/>
          </a:prstGeom>
          <a:solidFill>
            <a:srgbClr val="2e86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08" name="next 3 icon" descr="preencoded.png"/>
          <p:cNvPicPr/>
          <p:nvPr/>
        </p:nvPicPr>
        <p:blipFill>
          <a:blip r:embed="rId3"/>
          <a:stretch/>
        </p:blipFill>
        <p:spPr>
          <a:xfrm>
            <a:off x="735120" y="3972240"/>
            <a:ext cx="402840" cy="402840"/>
          </a:xfrm>
          <a:prstGeom prst="rect">
            <a:avLst/>
          </a:prstGeom>
          <a:ln w="0">
            <a:noFill/>
          </a:ln>
        </p:spPr>
      </p:pic>
      <p:sp>
        <p:nvSpPr>
          <p:cNvPr id="209" name="next 3 head"/>
          <p:cNvSpPr/>
          <p:nvPr/>
        </p:nvSpPr>
        <p:spPr>
          <a:xfrm>
            <a:off x="1600200" y="3740040"/>
            <a:ext cx="310752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Deliver alerts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next 3 body"/>
          <p:cNvSpPr/>
          <p:nvPr/>
        </p:nvSpPr>
        <p:spPr>
          <a:xfrm>
            <a:off x="4754880" y="3740040"/>
            <a:ext cx="685656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An SMS/Viber/push consumer on nepal.air.alerts for schools, hospitals and citizens.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next 4 circle"/>
          <p:cNvSpPr/>
          <p:nvPr/>
        </p:nvSpPr>
        <p:spPr>
          <a:xfrm>
            <a:off x="548640" y="4992480"/>
            <a:ext cx="775800" cy="775800"/>
          </a:xfrm>
          <a:prstGeom prst="ellipse">
            <a:avLst/>
          </a:prstGeom>
          <a:solidFill>
            <a:srgbClr val="2e86a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12" name="next 4 icon" descr="preencoded.png"/>
          <p:cNvPicPr/>
          <p:nvPr/>
        </p:nvPicPr>
        <p:blipFill>
          <a:blip r:embed="rId4"/>
          <a:stretch/>
        </p:blipFill>
        <p:spPr>
          <a:xfrm>
            <a:off x="735120" y="5179320"/>
            <a:ext cx="402840" cy="402840"/>
          </a:xfrm>
          <a:prstGeom prst="rect">
            <a:avLst/>
          </a:prstGeom>
          <a:ln w="0">
            <a:noFill/>
          </a:ln>
        </p:spPr>
      </p:pic>
      <p:sp>
        <p:nvSpPr>
          <p:cNvPr id="213" name="next 4 head"/>
          <p:cNvSpPr/>
          <p:nvPr/>
        </p:nvSpPr>
        <p:spPr>
          <a:xfrm>
            <a:off x="1600200" y="4946760"/>
            <a:ext cx="310752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Richer forecasts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next 4 body"/>
          <p:cNvSpPr/>
          <p:nvPr/>
        </p:nvSpPr>
        <p:spPr>
          <a:xfrm>
            <a:off x="4754880" y="4946760"/>
            <a:ext cx="685656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2"/>
                </a:solidFill>
                <a:latin typeface="Calibri"/>
              </a:rPr>
              <a:t>Fire counts and aerosol (already ingested), kiln calendars and traffic as forecast features; LSTM models; longer horizons.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 type="sldNum" idx="18"/>
          </p:nvPr>
        </p:nvSpPr>
        <p:spPr>
          <a:xfrm>
            <a:off x="11155680" y="6400800"/>
            <a:ext cx="45576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1B6C783-3FAA-4879-949C-A4AD2FFFC116}" type="slidenum">
              <a:rPr b="0" lang="en-US" sz="100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2800" cy="77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chemeClr val="lt1"/>
                </a:solidFill>
                <a:latin typeface="Arial"/>
                <a:ea typeface="Arial"/>
              </a:rPr>
              <a:t>Conclusion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conclusion 1 card"/>
          <p:cNvSpPr/>
          <p:nvPr/>
        </p:nvSpPr>
        <p:spPr>
          <a:xfrm>
            <a:off x="548640" y="1371600"/>
            <a:ext cx="5439240" cy="178164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conclusion 1 head"/>
          <p:cNvSpPr/>
          <p:nvPr/>
        </p:nvSpPr>
        <p:spPr>
          <a:xfrm>
            <a:off x="868680" y="1600200"/>
            <a:ext cx="4844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chemeClr val="accent1"/>
                </a:solidFill>
                <a:latin typeface="Calibri"/>
              </a:rPr>
              <a:t>Real problem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" name="conclusion 1 body"/>
          <p:cNvSpPr/>
          <p:nvPr/>
        </p:nvSpPr>
        <p:spPr>
          <a:xfrm>
            <a:off x="868680" y="2103120"/>
            <a:ext cx="484488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</a:rPr>
              <a:t>Unsafe PM2.5 on most days in the Terai and almost half of days in Kathmandu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conclusion 2 card"/>
          <p:cNvSpPr/>
          <p:nvPr/>
        </p:nvSpPr>
        <p:spPr>
          <a:xfrm>
            <a:off x="6172200" y="1371600"/>
            <a:ext cx="5439240" cy="178164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conclusion 2 head"/>
          <p:cNvSpPr/>
          <p:nvPr/>
        </p:nvSpPr>
        <p:spPr>
          <a:xfrm>
            <a:off x="6492240" y="1600200"/>
            <a:ext cx="4844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chemeClr val="accent1"/>
                </a:solidFill>
                <a:latin typeface="Calibri"/>
              </a:rPr>
              <a:t>Big-data stack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conclusion 2 body"/>
          <p:cNvSpPr/>
          <p:nvPr/>
        </p:nvSpPr>
        <p:spPr>
          <a:xfrm>
            <a:off x="6492240" y="2103120"/>
            <a:ext cx="484488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</a:rPr>
              <a:t>Kafka + Spark at the core, with HDFS, YARN/MapReduce, Hive, Flume, Cassandra and MongoDB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conclusion 3 card"/>
          <p:cNvSpPr/>
          <p:nvPr/>
        </p:nvSpPr>
        <p:spPr>
          <a:xfrm>
            <a:off x="548640" y="3383280"/>
            <a:ext cx="5439240" cy="178164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conclusion 3 head"/>
          <p:cNvSpPr/>
          <p:nvPr/>
        </p:nvSpPr>
        <p:spPr>
          <a:xfrm>
            <a:off x="868680" y="3611880"/>
            <a:ext cx="4844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chemeClr val="accent1"/>
                </a:solidFill>
                <a:latin typeface="Calibri"/>
              </a:rPr>
              <a:t>Real-time + history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" name="conclusion 3 body"/>
          <p:cNvSpPr/>
          <p:nvPr/>
        </p:nvSpPr>
        <p:spPr>
          <a:xfrm>
            <a:off x="868680" y="4114800"/>
            <a:ext cx="484488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</a:rPr>
              <a:t>Alerts in seconds; ~1M records from 6 sources and 25 years of satellite data in an HDFS lake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conclusion 4 card"/>
          <p:cNvSpPr/>
          <p:nvPr/>
        </p:nvSpPr>
        <p:spPr>
          <a:xfrm>
            <a:off x="6172200" y="3383280"/>
            <a:ext cx="5439240" cy="178164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conclusion 4 head"/>
          <p:cNvSpPr/>
          <p:nvPr/>
        </p:nvSpPr>
        <p:spPr>
          <a:xfrm>
            <a:off x="6492240" y="3611880"/>
            <a:ext cx="4844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chemeClr val="accent1"/>
                </a:solidFill>
                <a:latin typeface="Calibri"/>
              </a:rPr>
              <a:t>Early warning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conclusion 4 body"/>
          <p:cNvSpPr/>
          <p:nvPr/>
        </p:nvSpPr>
        <p:spPr>
          <a:xfrm>
            <a:off x="6492240" y="4114800"/>
            <a:ext cx="484488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</a:rPr>
              <a:t>6-hour PM2.5 forecast, 40% lower error than persistence; model calibrated with ground stations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thanks"/>
          <p:cNvSpPr/>
          <p:nvPr/>
        </p:nvSpPr>
        <p:spPr>
          <a:xfrm>
            <a:off x="548640" y="5623560"/>
            <a:ext cx="110628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hi-IN" sz="2600" spc="-1" strike="noStrike">
                <a:solidFill>
                  <a:schemeClr val="lt1"/>
                </a:solidFill>
                <a:latin typeface="Calibri"/>
              </a:rPr>
              <a:t>धन्यवाद </a:t>
            </a:r>
            <a:r>
              <a:rPr b="1" lang="en-US" sz="2600" spc="-1" strike="noStrike">
                <a:solidFill>
                  <a:schemeClr val="lt1"/>
                </a:solidFill>
                <a:latin typeface="Calibri"/>
              </a:rPr>
              <a:t>· Thank you. Questions?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PlaceHolder 2"/>
          <p:cNvSpPr>
            <a:spLocks noGrp="1"/>
          </p:cNvSpPr>
          <p:nvPr>
            <p:ph type="sldNum" idx="19"/>
          </p:nvPr>
        </p:nvSpPr>
        <p:spPr>
          <a:xfrm>
            <a:off x="11155680" y="6400800"/>
            <a:ext cx="45576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chemeClr val="lt2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D74C780-D0C9-4AF7-8B7A-C0FEA92D003A}" type="slidenum">
              <a:rPr b="0" lang="en-US" sz="1000" spc="-1" strike="noStrike">
                <a:solidFill>
                  <a:schemeClr val="lt2"/>
                </a:solidFill>
                <a:latin typeface="Calibri"/>
              </a:rPr>
              <a:t>&lt;number&gt;</a:t>
            </a:fld>
            <a:endParaRPr b="0" lang="en-US" sz="10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NepAirWatch Haze">
  <a:themeElements>
    <a:clrScheme name="NepAirWatch Haze">
      <a:dk1>
        <a:srgbClr val="1e2a36"/>
      </a:dk1>
      <a:lt1>
        <a:srgbClr val="ffffff"/>
      </a:lt1>
      <a:dk2>
        <a:srgbClr val="4a5a6a"/>
      </a:dk2>
      <a:lt2>
        <a:srgbClr val="f1f4f7"/>
      </a:lt2>
      <a:accent1>
        <a:srgbClr val="e07a2f"/>
      </a:accent1>
      <a:accent2>
        <a:srgbClr val="c0392b"/>
      </a:accent2>
      <a:accent3>
        <a:srgbClr val="2e86ab"/>
      </a:accent3>
      <a:accent4>
        <a:srgbClr val="5e8c61"/>
      </a:accent4>
      <a:accent5>
        <a:srgbClr val="8e6c8a"/>
      </a:accent5>
      <a:accent6>
        <a:srgbClr val="f2c14e"/>
      </a:accent6>
      <a:hlink>
        <a:srgbClr val="2e86ab"/>
      </a:hlink>
      <a:folHlink>
        <a:srgbClr val="8e6c8a"/>
      </a:folHlink>
    </a:clrScheme>
    <a:fontScheme name="NepAirWatch Haze">
      <a:majorFont>
        <a:latin typeface="Arial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NepAirWatch Haze">
  <a:themeElements>
    <a:clrScheme name="NepAirWatch Haze">
      <a:dk1>
        <a:srgbClr val="1e2a36"/>
      </a:dk1>
      <a:lt1>
        <a:srgbClr val="ffffff"/>
      </a:lt1>
      <a:dk2>
        <a:srgbClr val="4a5a6a"/>
      </a:dk2>
      <a:lt2>
        <a:srgbClr val="f1f4f7"/>
      </a:lt2>
      <a:accent1>
        <a:srgbClr val="e07a2f"/>
      </a:accent1>
      <a:accent2>
        <a:srgbClr val="c0392b"/>
      </a:accent2>
      <a:accent3>
        <a:srgbClr val="2e86ab"/>
      </a:accent3>
      <a:accent4>
        <a:srgbClr val="5e8c61"/>
      </a:accent4>
      <a:accent5>
        <a:srgbClr val="8e6c8a"/>
      </a:accent5>
      <a:accent6>
        <a:srgbClr val="f2c14e"/>
      </a:accent6>
      <a:hlink>
        <a:srgbClr val="2e86ab"/>
      </a:hlink>
      <a:folHlink>
        <a:srgbClr val="8e6c8a"/>
      </a:folHlink>
    </a:clrScheme>
    <a:fontScheme name="NepAirWatch Haze">
      <a:majorFont>
        <a:latin typeface="Arial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NepAirWatch Haze">
  <a:themeElements>
    <a:clrScheme name="NepAirWatch Haze">
      <a:dk1>
        <a:srgbClr val="1e2a36"/>
      </a:dk1>
      <a:lt1>
        <a:srgbClr val="ffffff"/>
      </a:lt1>
      <a:dk2>
        <a:srgbClr val="4a5a6a"/>
      </a:dk2>
      <a:lt2>
        <a:srgbClr val="f1f4f7"/>
      </a:lt2>
      <a:accent1>
        <a:srgbClr val="e07a2f"/>
      </a:accent1>
      <a:accent2>
        <a:srgbClr val="c0392b"/>
      </a:accent2>
      <a:accent3>
        <a:srgbClr val="2e86ab"/>
      </a:accent3>
      <a:accent4>
        <a:srgbClr val="5e8c61"/>
      </a:accent4>
      <a:accent5>
        <a:srgbClr val="8e6c8a"/>
      </a:accent5>
      <a:accent6>
        <a:srgbClr val="f2c14e"/>
      </a:accent6>
      <a:hlink>
        <a:srgbClr val="2e86ab"/>
      </a:hlink>
      <a:folHlink>
        <a:srgbClr val="8e6c8a"/>
      </a:folHlink>
    </a:clrScheme>
    <a:fontScheme name="NepAirWatch Haze">
      <a:majorFont>
        <a:latin typeface="Arial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NepAirWatch Haze">
  <a:themeElements>
    <a:clrScheme name="NepAirWatch Haze">
      <a:dk1>
        <a:srgbClr val="1e2a36"/>
      </a:dk1>
      <a:lt1>
        <a:srgbClr val="ffffff"/>
      </a:lt1>
      <a:dk2>
        <a:srgbClr val="4a5a6a"/>
      </a:dk2>
      <a:lt2>
        <a:srgbClr val="f1f4f7"/>
      </a:lt2>
      <a:accent1>
        <a:srgbClr val="e07a2f"/>
      </a:accent1>
      <a:accent2>
        <a:srgbClr val="c0392b"/>
      </a:accent2>
      <a:accent3>
        <a:srgbClr val="2e86ab"/>
      </a:accent3>
      <a:accent4>
        <a:srgbClr val="5e8c61"/>
      </a:accent4>
      <a:accent5>
        <a:srgbClr val="8e6c8a"/>
      </a:accent5>
      <a:accent6>
        <a:srgbClr val="f2c14e"/>
      </a:accent6>
      <a:hlink>
        <a:srgbClr val="2e86ab"/>
      </a:hlink>
      <a:folHlink>
        <a:srgbClr val="8e6c8a"/>
      </a:folHlink>
    </a:clrScheme>
    <a:fontScheme name="NepAirWatch Haze">
      <a:majorFont>
        <a:latin typeface="Arial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2026-10-10T17:24:05Z</dcterms:created>
  <dc:creator>NepAirWatch project team</dc:creator>
  <dc:description/>
  <dc:language>en-US</dc:language>
  <cp:lastModifiedBy/>
  <dcterms:modified xsi:type="dcterms:W3CDTF">2026-10-12T23:02:05Z</dcterms:modified>
  <cp:revision>5</cp:revision>
  <dc:subject>PptxGenJS Presentation</dc:subject>
  <dc:title>NepAirWatch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15</vt:i4>
  </property>
  <property fmtid="{D5CDD505-2E9C-101B-9397-08002B2CF9AE}" pid="3" name="PresentationFormat">
    <vt:lpwstr>On-screen Show (16:9)</vt:lpwstr>
  </property>
  <property fmtid="{D5CDD505-2E9C-101B-9397-08002B2CF9AE}" pid="4" name="Slides">
    <vt:i4>15</vt:i4>
  </property>
</Properties>
</file>